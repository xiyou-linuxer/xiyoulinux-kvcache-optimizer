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73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6" r:id="rId14"/>
    <p:sldId id="267" r:id="rId15"/>
    <p:sldId id="268" r:id="rId16"/>
    <p:sldId id="269" r:id="rId17"/>
    <p:sldId id="278" r:id="rId18"/>
    <p:sldId id="277" r:id="rId19"/>
    <p:sldId id="279" r:id="rId20"/>
    <p:sldId id="270" r:id="rId21"/>
    <p:sldId id="274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作者请关注公众号壹课，请尊重原作者。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84"/>
            <a:ext cx="9799200" cy="25706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729"/>
            <a:ext cx="9799200" cy="1472536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295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06F3C0C-27E9-6440-A28B-0D19F68C4EB6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537"/>
            <a:ext cx="10969200" cy="4759639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6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F4B64D5-88C6-1042-AF6E-817503A987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7"/>
          <p:cNvCxnSpPr/>
          <p:nvPr userDrawn="1"/>
        </p:nvCxnSpPr>
        <p:spPr>
          <a:xfrm>
            <a:off x="608400" y="1314121"/>
            <a:ext cx="10969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756"/>
            <a:ext cx="7768800" cy="76687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626"/>
            <a:ext cx="7768800" cy="86768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69BA2CC-44EF-194D-B740-00323B0670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339"/>
            <a:ext cx="5176800" cy="4748838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339"/>
            <a:ext cx="5176800" cy="4748838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6A6C3BE-B9EF-4943-BF05-4524F086AA5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332"/>
            <a:ext cx="5342400" cy="381636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860"/>
            <a:ext cx="5342400" cy="38163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171"/>
            <a:ext cx="5342400" cy="439600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8C5F02AB-3A3A-F948-8E93-9C71586A198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56"/>
            <a:ext cx="10969200" cy="70566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9830AC9-08F5-2C46-A8D8-B9DDA3C89C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99F6EA0-89DF-A641-B1D8-1D4C67A7E21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259"/>
            <a:ext cx="5233035" cy="4608621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2365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344"/>
            <a:ext cx="5227200" cy="46084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39E2CEEF-6EC9-604E-AC92-7BBD12A9A9A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84"/>
            <a:ext cx="1044000" cy="502966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84"/>
            <a:ext cx="9169200" cy="5029665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B5F25C1-7806-214B-A884-4C8D02DC59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096C965-9207-7448-AA7A-40197FFBA87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71"/>
            <a:ext cx="10972800" cy="5483306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23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599565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6765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4529FB7-9B89-564D-8AB3-F4AA004866E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229"/>
            <a:ext cx="9799200" cy="101889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729"/>
            <a:ext cx="9799200" cy="47164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56"/>
            <a:ext cx="10969200" cy="70566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537"/>
            <a:ext cx="10969200" cy="475963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834432E-4B8E-9C47-8434-4A94AA9259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983"/>
            <a:ext cx="396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基于宝宝的宝宝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983"/>
            <a:ext cx="2700000" cy="316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8455" algn="l"/>
          <a:tab pos="1608455" algn="l"/>
          <a:tab pos="1608455" algn="l"/>
          <a:tab pos="160845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26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77.xml"/><Relationship Id="rId23" Type="http://schemas.openxmlformats.org/officeDocument/2006/relationships/tags" Target="../tags/tag176.xml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19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" t="32051" r="152" b="3522"/>
          <a:stretch>
            <a:fillRect/>
          </a:stretch>
        </p:blipFill>
        <p:spPr>
          <a:xfrm>
            <a:off x="3763" y="5213518"/>
            <a:ext cx="4596465" cy="169630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763" y="5222202"/>
            <a:ext cx="12184475" cy="1633680"/>
          </a:xfrm>
          <a:prstGeom prst="rect">
            <a:avLst/>
          </a:prstGeom>
          <a:solidFill>
            <a:srgbClr val="00206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84900" y="2117"/>
            <a:ext cx="2543509" cy="2556201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3763" y="5052670"/>
            <a:ext cx="12184475" cy="770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76" y="-1057"/>
            <a:ext cx="12184475" cy="4970251"/>
          </a:xfrm>
          <a:prstGeom prst="rect">
            <a:avLst/>
          </a:prstGeom>
          <a:solidFill>
            <a:schemeClr val="accent2">
              <a:lumMod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129557" y="2929563"/>
            <a:ext cx="1000776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面向</a:t>
            </a:r>
            <a:r>
              <a:rPr lang="en-US" altLang="zh-CN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5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推理负载的异构存储管理系统优化</a:t>
            </a:r>
            <a:endParaRPr lang="zh-CN" altLang="en-US" sz="5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35096" y="5222423"/>
            <a:ext cx="6796327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ts val="296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方正小标宋简体" panose="03000509000000000000" charset="-122"/>
                <a:ea typeface="方正小标宋简体" panose="03000509000000000000" charset="-122"/>
                <a:cs typeface="方正小标宋简体" panose="03000509000000000000" charset="-122"/>
                <a:sym typeface="+mn-ea"/>
              </a:rPr>
              <a:t>汇报队伍：古法编程继承人 </a:t>
            </a:r>
            <a:endParaRPr lang="zh-CN" altLang="en-US" sz="2000" b="1" dirty="0">
              <a:solidFill>
                <a:schemeClr val="bg1"/>
              </a:solidFill>
              <a:latin typeface="方正小标宋简体" panose="03000509000000000000" charset="-122"/>
              <a:ea typeface="方正小标宋简体" panose="03000509000000000000" charset="-122"/>
              <a:cs typeface="方正小标宋简体" panose="03000509000000000000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281" y="465381"/>
            <a:ext cx="1941265" cy="1809903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18160" y="209550"/>
            <a:ext cx="8382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目录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10820400" cy="895350"/>
            <a:chOff x="685800" y="1619250"/>
            <a:chExt cx="10820400" cy="895350"/>
          </a:xfrm>
        </p:grpSpPr>
        <p:sp>
          <p:nvSpPr>
            <p:cNvPr id="7" name="Rectangle 7"/>
            <p:cNvSpPr/>
            <p:nvPr/>
          </p:nvSpPr>
          <p:spPr>
            <a:xfrm>
              <a:off x="685800" y="16192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8" name="Ellipse 8"/>
            <p:cNvSpPr/>
            <p:nvPr>
              <p:custDataLst>
                <p:tags r:id="rId2"/>
              </p:custDataLst>
            </p:nvPr>
          </p:nvSpPr>
          <p:spPr>
            <a:xfrm>
              <a:off x="914400" y="18573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040130" y="19812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569720" y="17954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项目背景与赛题目标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1572768" y="21650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说明问题来源、赛题任务和本项目的切入点。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6"/>
            </p:custDataLst>
          </p:nvPr>
        </p:nvGrpSpPr>
        <p:grpSpPr>
          <a:xfrm>
            <a:off x="685800" y="2724150"/>
            <a:ext cx="10820400" cy="895350"/>
            <a:chOff x="685800" y="2724150"/>
            <a:chExt cx="10820400" cy="8953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241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4" name="Ellipse 14"/>
            <p:cNvSpPr/>
            <p:nvPr>
              <p:custDataLst>
                <p:tags r:id="rId7"/>
              </p:custDataLst>
            </p:nvPr>
          </p:nvSpPr>
          <p:spPr>
            <a:xfrm>
              <a:off x="914400" y="29622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1040130" y="30861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569720" y="29003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系统设计与关键机制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572768" y="3269932"/>
              <a:ext cx="5820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介绍 MiniFlexKV 的接入方式、模块分层与关键实现机制。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1"/>
            </p:custDataLst>
          </p:nvPr>
        </p:nvGrpSpPr>
        <p:grpSpPr>
          <a:xfrm>
            <a:off x="685800" y="3829050"/>
            <a:ext cx="10820400" cy="895350"/>
            <a:chOff x="685800" y="3829050"/>
            <a:chExt cx="10820400" cy="895350"/>
          </a:xfrm>
        </p:grpSpPr>
        <p:sp>
          <p:nvSpPr>
            <p:cNvPr id="19" name="Rectangle 19"/>
            <p:cNvSpPr/>
            <p:nvPr/>
          </p:nvSpPr>
          <p:spPr>
            <a:xfrm>
              <a:off x="685800" y="38290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Ellipse 20"/>
            <p:cNvSpPr/>
            <p:nvPr>
              <p:custDataLst>
                <p:tags r:id="rId12"/>
              </p:custDataLst>
            </p:nvPr>
          </p:nvSpPr>
          <p:spPr>
            <a:xfrm>
              <a:off x="914400" y="40671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3"/>
              </p:custDataLst>
            </p:nvPr>
          </p:nvSpPr>
          <p:spPr>
            <a:xfrm>
              <a:off x="1040130" y="4191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4"/>
              </p:custDataLst>
            </p:nvPr>
          </p:nvSpPr>
          <p:spPr>
            <a:xfrm>
              <a:off x="1569720" y="40052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项目进展与实验成果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5"/>
              </p:custDataLst>
            </p:nvPr>
          </p:nvSpPr>
          <p:spPr>
            <a:xfrm>
              <a:off x="1572768" y="43748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呈现当前完成情况、正确性验证和性能结果。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>
            <p:custDataLst>
              <p:tags r:id="rId16"/>
            </p:custDataLst>
          </p:nvPr>
        </p:nvGrpSpPr>
        <p:grpSpPr>
          <a:xfrm>
            <a:off x="685800" y="4933950"/>
            <a:ext cx="10820400" cy="895350"/>
            <a:chOff x="685800" y="4933950"/>
            <a:chExt cx="10820400" cy="895350"/>
          </a:xfrm>
        </p:grpSpPr>
        <p:sp>
          <p:nvSpPr>
            <p:cNvPr id="25" name="Rectangle 25"/>
            <p:cNvSpPr/>
            <p:nvPr/>
          </p:nvSpPr>
          <p:spPr>
            <a:xfrm>
              <a:off x="685800" y="4933950"/>
              <a:ext cx="10820400" cy="895350"/>
            </a:xfrm>
            <a:prstGeom prst="roundRect">
              <a:avLst>
                <a:gd name="adj" fmla="val 19149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7"/>
              </p:custDataLst>
            </p:nvPr>
          </p:nvSpPr>
          <p:spPr>
            <a:xfrm>
              <a:off x="914400" y="5172075"/>
              <a:ext cx="419100" cy="419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18"/>
              </p:custDataLst>
            </p:nvPr>
          </p:nvSpPr>
          <p:spPr>
            <a:xfrm>
              <a:off x="1040130" y="5295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5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9"/>
              </p:custDataLst>
            </p:nvPr>
          </p:nvSpPr>
          <p:spPr>
            <a:xfrm>
              <a:off x="1569720" y="5110162"/>
              <a:ext cx="250825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ai</a:t>
              </a:r>
              <a:r>
                <a:rPr lang="zh-CN" altLang="en-US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使用以及</a:t>
              </a:r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成员分工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0"/>
              </p:custDataLst>
            </p:nvPr>
          </p:nvSpPr>
          <p:spPr>
            <a:xfrm>
              <a:off x="1572768" y="54797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收束本阶段汇报内容，并说明团队职责分工。</a:t>
              </a:r>
              <a:endParaRPr lang="zh-CN" sz="16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项目背景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2227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随着上下文长度增长，KV Cache 正在成为 LLM 推理中最突出的显存占用来源。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619250"/>
            <a:ext cx="485775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4870" y="1852612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问题来源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7410" y="2415540"/>
            <a:ext cx="4495165" cy="242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850"/>
              </a:lnSpc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LLM 推理需要保存历史 token 的 Key-Value 缓存，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以减少重复 Attention 计算。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当上下文从 2K、8K 增长到 16K、32K 甚至更高时，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KV Cache 会近似线性膨胀。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2850"/>
              </a:lnSpc>
              <a:spcBef>
                <a:spcPts val="1050"/>
              </a:spcBef>
            </a:pP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在资源受限设备上，KV Cache 会逐渐挤占模型权重、</a:t>
            </a:r>
            <a:r>
              <a:rPr lang="zh-CN" sz="18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激活与运行时调度所需要的显存预算。</a:t>
            </a:r>
            <a:endParaRPr 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981700" y="1619250"/>
            <a:ext cx="5600700" cy="4678489"/>
            <a:chOff x="5981700" y="1619250"/>
            <a:chExt cx="5600700" cy="4678489"/>
          </a:xfrm>
        </p:grpSpPr>
        <p:sp>
          <p:nvSpPr>
            <p:cNvPr id="9" name="Rectangle 9"/>
            <p:cNvSpPr/>
            <p:nvPr/>
          </p:nvSpPr>
          <p:spPr>
            <a:xfrm>
              <a:off x="5981700" y="1619250"/>
              <a:ext cx="5600700" cy="426720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4120" y="185261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显存压力的直观变化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724650" y="52768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724650" y="268605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rgbClr val="AABED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62800" y="4514850"/>
              <a:ext cx="533400" cy="762000"/>
            </a:xfrm>
            <a:prstGeom prst="roundRect">
              <a:avLst>
                <a:gd name="adj" fmla="val 17857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96250" y="3886200"/>
              <a:ext cx="533400" cy="1390650"/>
            </a:xfrm>
            <a:prstGeom prst="roundRect">
              <a:avLst>
                <a:gd name="adj" fmla="val 17857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29700" y="2971800"/>
              <a:ext cx="533400" cy="2305050"/>
            </a:xfrm>
            <a:prstGeom prst="roundRect">
              <a:avLst>
                <a:gd name="adj" fmla="val 17857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63150" y="2362200"/>
              <a:ext cx="533400" cy="2914650"/>
            </a:xfrm>
            <a:prstGeom prst="roundRect">
              <a:avLst>
                <a:gd name="adj" fmla="val 17857"/>
              </a:avLst>
            </a:prstGeom>
            <a:solidFill>
              <a:srgbClr val="002060">
                <a:alpha val="8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702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0479" y="54359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1122" y="54359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11766" y="543591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32K+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25784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8692" y="51311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</a:t>
              </a:r>
              <a:endParaRPr lang="zh-CN" sz="135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6807" y="5975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上下文越长，缓存显存压力越大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赛题任务与目标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61341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关注围绕监控、迁移、分配与透明集成形成系统方案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>
            <a:off x="685800" y="1619250"/>
            <a:ext cx="5143500" cy="1809750"/>
            <a:chOff x="685800" y="1619250"/>
            <a:chExt cx="5143500" cy="180975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9822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任务一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979932" y="21736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监控访问模式，定义块级热度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982218" y="2717482"/>
              <a:ext cx="373627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观察访问频率、最近访问时间等信号，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 KV Cache 的冷热分层提供基础依据。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6"/>
            </p:custDataLst>
          </p:nvPr>
        </p:nvGrpSpPr>
        <p:grpSpPr>
          <a:xfrm>
            <a:off x="6362700" y="1619250"/>
            <a:ext cx="5143500" cy="1809750"/>
            <a:chOff x="6362700" y="1619250"/>
            <a:chExt cx="5143500" cy="1809750"/>
          </a:xfrm>
        </p:grpSpPr>
        <p:sp>
          <p:nvSpPr>
            <p:cNvPr id="11" name="Rectangle 11"/>
            <p:cNvSpPr/>
            <p:nvPr>
              <p:custDataLst>
                <p:tags r:id="rId7"/>
              </p:custDataLst>
            </p:nvPr>
          </p:nvSpPr>
          <p:spPr>
            <a:xfrm>
              <a:off x="6362700" y="16192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6659118" y="18602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任务二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6656832" y="21736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热留显存，温迁内存，冷迁外存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59118" y="2717482"/>
              <a:ext cx="34848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根据访问行为在 GPU、CPU、SSD 之间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组织动态迁移与命中后回填。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>
            <p:custDataLst>
              <p:tags r:id="rId11"/>
            </p:custDataLst>
          </p:nvPr>
        </p:nvGrpSpPr>
        <p:grpSpPr>
          <a:xfrm>
            <a:off x="685800" y="3714750"/>
            <a:ext cx="5143500" cy="1809750"/>
            <a:chOff x="685800" y="3714750"/>
            <a:chExt cx="5143500" cy="1809750"/>
          </a:xfrm>
        </p:grpSpPr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6858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982218" y="3955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任务三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979932" y="42691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设计块级存储分配与碎片控制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982218" y="4812982"/>
              <a:ext cx="38096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block 为单位组织存储，减少动态增长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带来的显存和内存碎片问题。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>
            <p:custDataLst>
              <p:tags r:id="rId16"/>
            </p:custDataLst>
          </p:nvPr>
        </p:nvGrpSpPr>
        <p:grpSpPr>
          <a:xfrm>
            <a:off x="6362700" y="3714750"/>
            <a:ext cx="5143500" cy="1809750"/>
            <a:chOff x="6362700" y="3714750"/>
            <a:chExt cx="5143500" cy="1809750"/>
          </a:xfrm>
        </p:grpSpPr>
        <p:sp>
          <p:nvSpPr>
            <p:cNvPr id="21" name="Rectangle 21"/>
            <p:cNvSpPr/>
            <p:nvPr>
              <p:custDataLst>
                <p:tags r:id="rId17"/>
              </p:custDataLst>
            </p:nvPr>
          </p:nvSpPr>
          <p:spPr>
            <a:xfrm>
              <a:off x="6362700" y="3714750"/>
              <a:ext cx="5143500" cy="1809750"/>
            </a:xfrm>
            <a:prstGeom prst="roundRect">
              <a:avLst>
                <a:gd name="adj" fmla="val 947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659118" y="39557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B0F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</a:t>
              </a:r>
              <a:endParaRPr lang="zh-CN" sz="1650" b="1" dirty="0">
                <a:solidFill>
                  <a:srgbClr val="00B0F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656832" y="42691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尽量少改框架，提升吞吐并降低等待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6659118" y="4812982"/>
              <a:ext cx="363150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在尽量透明集成的前提下，支持更长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上下文，并减少 GPU 等待迁移的时间。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总体思路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8160" y="982345"/>
            <a:ext cx="11251565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本项目以分层 KV Cache 为主线，在 vLLM 推理流程中实现可接入、可迁移、可复用、可验证的缓存管理能力。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90600" y="1771650"/>
            <a:ext cx="10210800" cy="114300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7765" y="1958975"/>
            <a:ext cx="9952990" cy="784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用最少侵入的接入方式，把 KV 数据组织成可管理、可迁移、可复用的分层系统</a:t>
            </a:r>
            <a:endParaRPr lang="zh-CN" sz="255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990600" y="3314700"/>
            <a:ext cx="2933700" cy="2171700"/>
            <a:chOff x="990600" y="3314700"/>
            <a:chExt cx="2933700" cy="2171700"/>
          </a:xfrm>
        </p:grpSpPr>
        <p:sp>
          <p:nvSpPr>
            <p:cNvPr id="8" name="Rectangle 8"/>
            <p:cNvSpPr/>
            <p:nvPr>
              <p:custDataLst>
                <p:tags r:id="rId2"/>
              </p:custDataLst>
            </p:nvPr>
          </p:nvSpPr>
          <p:spPr>
            <a:xfrm>
              <a:off x="9906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12839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接入层面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286637" y="4061936"/>
              <a:ext cx="2591657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 vLLM V1 KV connector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为入口，尽量减少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对原推理框架的侵入。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>
            <p:custDataLst>
              <p:tags r:id="rId5"/>
            </p:custDataLst>
          </p:nvPr>
        </p:nvGrpSpPr>
        <p:grpSpPr>
          <a:xfrm>
            <a:off x="4629150" y="3314700"/>
            <a:ext cx="2933700" cy="2171700"/>
            <a:chOff x="4629150" y="3314700"/>
            <a:chExt cx="2933700" cy="2171700"/>
          </a:xfrm>
        </p:grpSpPr>
        <p:sp>
          <p:nvSpPr>
            <p:cNvPr id="12" name="Rectangle 12"/>
            <p:cNvSpPr/>
            <p:nvPr>
              <p:custDataLst>
                <p:tags r:id="rId6"/>
              </p:custDataLst>
            </p:nvPr>
          </p:nvSpPr>
          <p:spPr>
            <a:xfrm>
              <a:off x="462915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492252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体系层面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4925187" y="4061936"/>
              <a:ext cx="2427351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围绕 GPU、CPU、SSD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三层缓存路径组织数据的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下沉、回填与复用。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9"/>
            </p:custDataLst>
          </p:nvPr>
        </p:nvGrpSpPr>
        <p:grpSpPr>
          <a:xfrm>
            <a:off x="8267700" y="3314700"/>
            <a:ext cx="2933700" cy="2171700"/>
            <a:chOff x="8267700" y="3314700"/>
            <a:chExt cx="2933700" cy="2171700"/>
          </a:xfrm>
        </p:grpSpPr>
        <p:sp>
          <p:nvSpPr>
            <p:cNvPr id="16" name="Rectangle 16"/>
            <p:cNvSpPr/>
            <p:nvPr>
              <p:custDataLst>
                <p:tags r:id="rId10"/>
              </p:custDataLst>
            </p:nvPr>
          </p:nvSpPr>
          <p:spPr>
            <a:xfrm>
              <a:off x="8267700" y="3314700"/>
              <a:ext cx="2933700" cy="2171700"/>
            </a:xfrm>
            <a:prstGeom prst="roundRect">
              <a:avLst>
                <a:gd name="adj" fmla="val 8772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11"/>
              </p:custDataLst>
            </p:nvPr>
          </p:nvSpPr>
          <p:spPr>
            <a:xfrm>
              <a:off x="8561070" y="35290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验证层面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2"/>
              </p:custDataLst>
            </p:nvPr>
          </p:nvSpPr>
          <p:spPr>
            <a:xfrm>
              <a:off x="8554847" y="4061936"/>
              <a:ext cx="2646426" cy="985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从正确性、长上下文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加速、超容量场景和</a:t>
              </a:r>
              <a:r>
                <a:rPr lang="zh-CN" sz="172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混合负载表现建立证据链。</a:t>
              </a:r>
              <a:endPara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总体架构设计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7904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MiniFlexKV 把接入、调度、缓存、存储和传输拆成清晰分层，以保持系统边界可控。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00200" y="1714500"/>
            <a:ext cx="8991600" cy="723900"/>
            <a:chOff x="1600200" y="1714500"/>
            <a:chExt cx="8991600" cy="723900"/>
          </a:xfrm>
        </p:grpSpPr>
        <p:sp>
          <p:nvSpPr>
            <p:cNvPr id="6" name="Rectangle 6"/>
            <p:cNvSpPr/>
            <p:nvPr/>
          </p:nvSpPr>
          <p:spPr>
            <a:xfrm>
              <a:off x="1600200" y="1714500"/>
              <a:ext cx="8991600" cy="723900"/>
            </a:xfrm>
            <a:prstGeom prst="roundRect">
              <a:avLst>
                <a:gd name="adj" fmla="val 26316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48408" y="1912620"/>
              <a:ext cx="40951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V1 Connector 接入层</a:t>
              </a:r>
              <a:endParaRPr lang="zh-CN" sz="24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00200" y="2705100"/>
            <a:ext cx="4305300" cy="914400"/>
            <a:chOff x="1600200" y="2705100"/>
            <a:chExt cx="4305300" cy="914400"/>
          </a:xfrm>
        </p:grpSpPr>
        <p:sp>
          <p:nvSpPr>
            <p:cNvPr id="9" name="Rectangle 9"/>
            <p:cNvSpPr/>
            <p:nvPr/>
          </p:nvSpPr>
          <p:spPr>
            <a:xfrm>
              <a:off x="16002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25040" y="2900362"/>
              <a:ext cx="3055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Scheduler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33650" y="3267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匹配、任务生成、状态轮询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2705100"/>
            <a:ext cx="4305300" cy="914400"/>
            <a:chOff x="6286500" y="2705100"/>
            <a:chExt cx="4305300" cy="914400"/>
          </a:xfrm>
        </p:grpSpPr>
        <p:sp>
          <p:nvSpPr>
            <p:cNvPr id="13" name="Rectangle 13"/>
            <p:cNvSpPr/>
            <p:nvPr/>
          </p:nvSpPr>
          <p:spPr>
            <a:xfrm>
              <a:off x="6286500" y="2705100"/>
              <a:ext cx="4305300" cy="914400"/>
            </a:xfrm>
            <a:prstGeom prst="roundRect">
              <a:avLst>
                <a:gd name="adj" fmla="val 18750"/>
              </a:avLst>
            </a:prstGeom>
            <a:solidFill>
              <a:srgbClr val="F4F8FF"/>
            </a:solidFill>
            <a:ln w="19050">
              <a:solidFill>
                <a:srgbClr val="6096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92553" y="2900362"/>
              <a:ext cx="26931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Worker Connector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8841" y="3267075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注册 GPU KV cache，承接执行端交互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2200" y="4000500"/>
            <a:ext cx="7467600" cy="827405"/>
            <a:chOff x="2362200" y="4000500"/>
            <a:chExt cx="7467600" cy="827405"/>
          </a:xfrm>
        </p:grpSpPr>
        <p:sp>
          <p:nvSpPr>
            <p:cNvPr id="17" name="Rectangle 17"/>
            <p:cNvSpPr/>
            <p:nvPr/>
          </p:nvSpPr>
          <p:spPr>
            <a:xfrm>
              <a:off x="2362200" y="4000500"/>
              <a:ext cx="7467600" cy="800100"/>
            </a:xfrm>
            <a:prstGeom prst="roundRect">
              <a:avLst>
                <a:gd name="adj" fmla="val 21429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4838" y="4184967"/>
              <a:ext cx="46023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KVTaskEngine / KVTaskManager</a:t>
              </a:r>
              <a:endParaRPr lang="en-US" sz="225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3905" y="45345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连接逻辑缓存规划与物理传输执行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9180" y="5181600"/>
            <a:ext cx="3044190" cy="1028700"/>
            <a:chOff x="1059180" y="5181600"/>
            <a:chExt cx="3044190" cy="1028700"/>
          </a:xfrm>
        </p:grpSpPr>
        <p:sp>
          <p:nvSpPr>
            <p:cNvPr id="21" name="Rectangle 21"/>
            <p:cNvSpPr/>
            <p:nvPr/>
          </p:nvSpPr>
          <p:spPr>
            <a:xfrm>
              <a:off x="1104900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99492" y="5393055"/>
              <a:ext cx="1763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Cache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180" y="57435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块级匹配、分配、淘汰与层间逻辑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19625" y="5181600"/>
            <a:ext cx="2952750" cy="1028700"/>
            <a:chOff x="4619625" y="5181600"/>
            <a:chExt cx="2952750" cy="1028700"/>
          </a:xfrm>
        </p:grpSpPr>
        <p:sp>
          <p:nvSpPr>
            <p:cNvPr id="25" name="Rectangle 25"/>
            <p:cNvSpPr/>
            <p:nvPr/>
          </p:nvSpPr>
          <p:spPr>
            <a:xfrm>
              <a:off x="4619625" y="5181600"/>
              <a:ext cx="2952750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8742" y="5393055"/>
              <a:ext cx="2074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Storage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866" y="5743575"/>
              <a:ext cx="2906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/ CPU / SSD 三类物理句柄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86903" y="5181600"/>
            <a:ext cx="3247644" cy="1028700"/>
            <a:chOff x="7986903" y="5181600"/>
            <a:chExt cx="3247644" cy="1028700"/>
          </a:xfrm>
        </p:grpSpPr>
        <p:sp>
          <p:nvSpPr>
            <p:cNvPr id="29" name="Rectangle 29"/>
            <p:cNvSpPr/>
            <p:nvPr/>
          </p:nvSpPr>
          <p:spPr>
            <a:xfrm>
              <a:off x="8002143" y="5181600"/>
              <a:ext cx="3217545" cy="1028700"/>
            </a:xfrm>
            <a:prstGeom prst="roundRect">
              <a:avLst>
                <a:gd name="adj" fmla="val 1666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95728" y="5393055"/>
              <a:ext cx="2229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Transfer Engine</a:t>
              </a:r>
              <a:endParaRPr lang="en-US" sz="2100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6903" y="5743575"/>
              <a:ext cx="3247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 D2H / H2D / H2DISK / DISK2H</a:t>
              </a:r>
              <a:endParaRPr lang="zh-CN" sz="15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关键机制设计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85800" y="1714500"/>
            <a:ext cx="5143500" cy="1885950"/>
            <a:chOff x="685800" y="1714500"/>
            <a:chExt cx="5143500" cy="188595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9932" y="1906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逻辑缓存管理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218" y="2431732"/>
              <a:ext cx="42077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以块级为基本单位，维护匹配、分配、淘汰、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ready / pending 状态和层间缓存规划。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62700" y="1714500"/>
            <a:ext cx="5143500" cy="1885950"/>
            <a:chOff x="6362700" y="1714500"/>
            <a:chExt cx="5143500" cy="1885950"/>
          </a:xfrm>
        </p:grpSpPr>
        <p:sp>
          <p:nvSpPr>
            <p:cNvPr id="10" name="Rectangle 10"/>
            <p:cNvSpPr/>
            <p:nvPr/>
          </p:nvSpPr>
          <p:spPr>
            <a:xfrm>
              <a:off x="6362700" y="17145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56832" y="19069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物理存储与数据搬运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431732"/>
              <a:ext cx="39039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统一管理 GPU、CPU、SSD 三类存储句柄，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并按依赖顺序执行跨层搬运操作。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3962400"/>
            <a:ext cx="5143500" cy="1885950"/>
            <a:chOff x="685800" y="3962400"/>
            <a:chExt cx="5143500" cy="1885950"/>
          </a:xfrm>
        </p:grpSpPr>
        <p:sp>
          <p:nvSpPr>
            <p:cNvPr id="14" name="Rectangle 14"/>
            <p:cNvSpPr/>
            <p:nvPr/>
          </p:nvSpPr>
          <p:spPr>
            <a:xfrm>
              <a:off x="6858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9932" y="4154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任务编排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4679632"/>
              <a:ext cx="338004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KVTaskEngine 把“命中规划”与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“传输执行”连接为统一生命周期。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62700" y="3962400"/>
            <a:ext cx="5143500" cy="1885950"/>
            <a:chOff x="6362700" y="3962400"/>
            <a:chExt cx="5143500" cy="1885950"/>
          </a:xfrm>
        </p:grpSpPr>
        <p:sp>
          <p:nvSpPr>
            <p:cNvPr id="18" name="Rectangle 18"/>
            <p:cNvSpPr/>
            <p:nvPr/>
          </p:nvSpPr>
          <p:spPr>
            <a:xfrm>
              <a:off x="6362700" y="3962400"/>
              <a:ext cx="5143500" cy="1885950"/>
            </a:xfrm>
            <a:prstGeom prst="roundRect">
              <a:avLst>
                <a:gd name="adj" fmla="val 9091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6832" y="41548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布局自适配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9118" y="4679632"/>
              <a:ext cx="350577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GPU KV 布局自探测兼容不同版本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的物理缓存组织方式。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项目开发进度与任务推进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177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当前项目已经从赛题分析推进到架构实现、实验验证和汇报整理阶段，路径清晰且阶段成果明确。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676400"/>
            <a:ext cx="10820400" cy="533400"/>
          </a:xfrm>
          <a:prstGeom prst="roundRect">
            <a:avLst>
              <a:gd name="adj" fmla="val 17857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860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阶段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96106" y="18249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主要任务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15606" y="182499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负责人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96856" y="18249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状态</a:t>
            </a:r>
            <a:endParaRPr lang="zh-CN" sz="1800" dirty="0">
              <a:solidFill>
                <a:srgbClr val="FFFFFF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85800" y="2209800"/>
            <a:ext cx="10820400" cy="838200"/>
            <a:chOff x="685800" y="2209800"/>
            <a:chExt cx="10820400" cy="838200"/>
          </a:xfrm>
        </p:grpSpPr>
        <p:sp>
          <p:nvSpPr>
            <p:cNvPr id="11" name="Rectangle 11"/>
            <p:cNvSpPr/>
            <p:nvPr/>
          </p:nvSpPr>
          <p:spPr>
            <a:xfrm>
              <a:off x="685800" y="22098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2510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阶段一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2743" y="2451417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赛题分析、资料搜集、技术路线初步调研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6368" y="25269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祁馨叶 / 徐子淳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810750" y="24003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02583" y="24984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048000"/>
            <a:ext cx="10820400" cy="838200"/>
            <a:chOff x="685800" y="3048000"/>
            <a:chExt cx="10820400" cy="838200"/>
          </a:xfrm>
        </p:grpSpPr>
        <p:sp>
          <p:nvSpPr>
            <p:cNvPr id="18" name="Rectangle 18"/>
            <p:cNvSpPr/>
            <p:nvPr/>
          </p:nvSpPr>
          <p:spPr>
            <a:xfrm>
              <a:off x="685800" y="30480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606" y="330962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阶段二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2870" y="3244215"/>
              <a:ext cx="44958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方案设计、系统边界划分、模块分层与实现路径确定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6368" y="3365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32385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2583" y="33366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886200"/>
            <a:ext cx="10820400" cy="838200"/>
            <a:chOff x="685800" y="3886200"/>
            <a:chExt cx="10820400" cy="838200"/>
          </a:xfrm>
        </p:grpSpPr>
        <p:sp>
          <p:nvSpPr>
            <p:cNvPr id="25" name="Rectangle 25"/>
            <p:cNvSpPr/>
            <p:nvPr/>
          </p:nvSpPr>
          <p:spPr>
            <a:xfrm>
              <a:off x="685800" y="3886200"/>
              <a:ext cx="10820400" cy="838200"/>
            </a:xfrm>
            <a:prstGeom prst="rect">
              <a:avLst/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8606" y="4187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阶段三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565" y="4116705"/>
              <a:ext cx="454533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接入、缓存管理、传输链路与布局适配实现，核心模块开发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6368" y="4203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井光成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40767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9825" y="4174808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724400"/>
            <a:ext cx="10820400" cy="838200"/>
            <a:chOff x="685800" y="4724400"/>
            <a:chExt cx="10820400" cy="838200"/>
          </a:xfrm>
        </p:grpSpPr>
        <p:sp>
          <p:nvSpPr>
            <p:cNvPr id="32" name="Rectangle 32"/>
            <p:cNvSpPr/>
            <p:nvPr/>
          </p:nvSpPr>
          <p:spPr>
            <a:xfrm>
              <a:off x="685800" y="4724400"/>
              <a:ext cx="10820400" cy="838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5025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阶段四</a:t>
              </a:r>
              <a:endParaRPr lang="zh-CN" sz="18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2870" y="4927600"/>
              <a:ext cx="451802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正确性验证、性能测试、结果整理与汇报材料组织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6368" y="50415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徐子淳 / 祁馨叶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4914900"/>
              <a:ext cx="1066800" cy="419100"/>
            </a:xfrm>
            <a:prstGeom prst="roundRect">
              <a:avLst>
                <a:gd name="adj" fmla="val 50000"/>
              </a:avLst>
            </a:prstGeom>
            <a:solidFill>
              <a:srgbClr val="56CA9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02583" y="501300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3048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当前完成情况总览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62000" y="1177290"/>
            <a:ext cx="2476500" cy="990600"/>
            <a:chOff x="762000" y="1695450"/>
            <a:chExt cx="2476500" cy="990600"/>
          </a:xfrm>
        </p:grpSpPr>
        <p:sp>
          <p:nvSpPr>
            <p:cNvPr id="6" name="Rectangle 6"/>
            <p:cNvSpPr/>
            <p:nvPr/>
          </p:nvSpPr>
          <p:spPr>
            <a:xfrm>
              <a:off x="762000" y="1695450"/>
              <a:ext cx="2476500" cy="990600"/>
            </a:xfrm>
            <a:prstGeom prst="roundRect">
              <a:avLst>
                <a:gd name="adj" fmla="val 13462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4178" y="202819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赛题要求</a:t>
              </a:r>
              <a:endParaRPr lang="zh-CN" sz="2100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90900" y="1177290"/>
            <a:ext cx="8039100" cy="990600"/>
            <a:chOff x="3390900" y="1695450"/>
            <a:chExt cx="8039100" cy="990600"/>
          </a:xfrm>
        </p:grpSpPr>
        <p:sp>
          <p:nvSpPr>
            <p:cNvPr id="10" name="Rectangle 10"/>
            <p:cNvSpPr/>
            <p:nvPr/>
          </p:nvSpPr>
          <p:spPr>
            <a:xfrm>
              <a:off x="3390900" y="1695450"/>
              <a:ext cx="8039100" cy="990600"/>
            </a:xfrm>
            <a:prstGeom prst="roundRect">
              <a:avLst>
                <a:gd name="adj" fmla="val 13462"/>
              </a:avLst>
            </a:prstGeom>
            <a:solidFill>
              <a:srgbClr val="00B0F0">
                <a:alpha val="12000"/>
              </a:srgbClr>
            </a:solidFill>
            <a:ln w="19050">
              <a:solidFill>
                <a:srgbClr val="00B0F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69609" y="204216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当前实现对应能力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>
            <p:custDataLst>
              <p:tags r:id="rId1"/>
            </p:custDataLst>
          </p:nvPr>
        </p:nvGrpSpPr>
        <p:grpSpPr>
          <a:xfrm>
            <a:off x="762000" y="2377440"/>
            <a:ext cx="10668000" cy="800100"/>
            <a:chOff x="762000" y="2895600"/>
            <a:chExt cx="10668000" cy="800100"/>
          </a:xfrm>
        </p:grpSpPr>
        <p:sp>
          <p:nvSpPr>
            <p:cNvPr id="14" name="Rectangle 14"/>
            <p:cNvSpPr/>
            <p:nvPr>
              <p:custDataLst>
                <p:tags r:id="rId2"/>
              </p:custDataLst>
            </p:nvPr>
          </p:nvSpPr>
          <p:spPr>
            <a:xfrm>
              <a:off x="762000" y="28956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5" name="TextBox 15"/>
            <p:cNvSpPr txBox="1"/>
            <p:nvPr>
              <p:custDataLst>
                <p:tags r:id="rId3"/>
              </p:custDataLst>
            </p:nvPr>
          </p:nvSpPr>
          <p:spPr>
            <a:xfrm>
              <a:off x="980694" y="3161348"/>
              <a:ext cx="18967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访问模式 / 热度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4"/>
              </p:custDataLst>
            </p:nvPr>
          </p:nvSpPr>
          <p:spPr>
            <a:xfrm>
              <a:off x="3390900" y="28956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3505200" y="3035300"/>
              <a:ext cx="781050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已具备块级匹配、缓存行为组织与层间状态管理基础，可承载热度定义与访问观测逻辑。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6"/>
            </p:custDataLst>
          </p:nvPr>
        </p:nvGrpSpPr>
        <p:grpSpPr>
          <a:xfrm>
            <a:off x="762000" y="3368040"/>
            <a:ext cx="11173689" cy="800100"/>
            <a:chOff x="762000" y="3886200"/>
            <a:chExt cx="11173689" cy="800100"/>
          </a:xfrm>
        </p:grpSpPr>
        <p:sp>
          <p:nvSpPr>
            <p:cNvPr id="19" name="Rectangle 19"/>
            <p:cNvSpPr/>
            <p:nvPr>
              <p:custDataLst>
                <p:tags r:id="rId7"/>
              </p:custDataLst>
            </p:nvPr>
          </p:nvSpPr>
          <p:spPr>
            <a:xfrm>
              <a:off x="762000" y="38862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0" name="TextBox 20"/>
            <p:cNvSpPr txBox="1"/>
            <p:nvPr>
              <p:custDataLst>
                <p:tags r:id="rId8"/>
              </p:custDataLst>
            </p:nvPr>
          </p:nvSpPr>
          <p:spPr>
            <a:xfrm>
              <a:off x="980694" y="4151948"/>
              <a:ext cx="1936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热 / 温 / 冷迁移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9"/>
              </p:custDataLst>
            </p:nvPr>
          </p:nvSpPr>
          <p:spPr>
            <a:xfrm>
              <a:off x="3390900" y="38862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0"/>
              </p:custDataLst>
            </p:nvPr>
          </p:nvSpPr>
          <p:spPr>
            <a:xfrm>
              <a:off x="3505073" y="4125277"/>
              <a:ext cx="8430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已完成 GPU / CPU / SSD 分层缓存路径，以及低层命中后的回填与溢出承接能力。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1"/>
            </p:custDataLst>
          </p:nvPr>
        </p:nvGrpSpPr>
        <p:grpSpPr>
          <a:xfrm>
            <a:off x="762000" y="4358640"/>
            <a:ext cx="11000600" cy="800100"/>
            <a:chOff x="762000" y="4876800"/>
            <a:chExt cx="11000600" cy="800100"/>
          </a:xfrm>
        </p:grpSpPr>
        <p:sp>
          <p:nvSpPr>
            <p:cNvPr id="24" name="Rectangle 24"/>
            <p:cNvSpPr/>
            <p:nvPr>
              <p:custDataLst>
                <p:tags r:id="rId12"/>
              </p:custDataLst>
            </p:nvPr>
          </p:nvSpPr>
          <p:spPr>
            <a:xfrm>
              <a:off x="762000" y="4876800"/>
              <a:ext cx="2476500" cy="800100"/>
            </a:xfrm>
            <a:prstGeom prst="roundRect">
              <a:avLst>
                <a:gd name="adj" fmla="val 14286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>
              <p:custDataLst>
                <p:tags r:id="rId13"/>
              </p:custDataLst>
            </p:nvPr>
          </p:nvSpPr>
          <p:spPr>
            <a:xfrm>
              <a:off x="980694" y="5142548"/>
              <a:ext cx="21592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分配器 / 碎片控制</a:t>
              </a:r>
              <a:endParaRPr lang="zh-CN" sz="19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>
              <p:custDataLst>
                <p:tags r:id="rId14"/>
              </p:custDataLst>
            </p:nvPr>
          </p:nvSpPr>
          <p:spPr>
            <a:xfrm>
              <a:off x="3390900" y="4876800"/>
              <a:ext cx="80391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5"/>
              </p:custDataLst>
            </p:nvPr>
          </p:nvSpPr>
          <p:spPr>
            <a:xfrm>
              <a:off x="3505073" y="5143182"/>
              <a:ext cx="8257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当前方案以 block 为基本单位组织缓存管理，更贴近页式缓存布局和块级回收逻辑。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2000" y="5368925"/>
            <a:ext cx="10668000" cy="915035"/>
          </a:xfrm>
          <a:prstGeom prst="roundRect">
            <a:avLst>
              <a:gd name="adj" fmla="val 10843"/>
            </a:avLst>
          </a:prstGeom>
          <a:solidFill>
            <a:srgbClr val="002060">
              <a:alpha val="8000"/>
            </a:srgbClr>
          </a:solidFill>
          <a:ln w="19050">
            <a:solidFill>
              <a:srgbClr val="6096E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75690" y="5679440"/>
            <a:ext cx="10036810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zh-CN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  <a:sym typeface="+mn-ea"/>
              </a:rPr>
              <a:t>整体框架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已完成单机单卡版本MiniFlexKV 整体骨架</a:t>
            </a:r>
            <a:r>
              <a:rPr lang="en-US" alt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,</a:t>
            </a:r>
            <a:r>
              <a:rPr lang="zh-CN" altLang="en-US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并进行了</a:t>
            </a:r>
            <a:r>
              <a:rPr lang="zh-CN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正确性校验与主要性能实验整理。</a:t>
            </a:r>
            <a:endParaRPr lang="zh-CN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en-US" altLang="zh-CN" sz="180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成果一：功能与正确性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068506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当前实现已经证明系统能正确接入、正确搬运并在不同布局间保持 KV 数据一致。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4457700" cy="4267200"/>
          </a:xfrm>
          <a:prstGeom prst="roundRect">
            <a:avLst>
              <a:gd name="adj" fmla="val 4464"/>
            </a:avLst>
          </a:prstGeom>
          <a:solidFill>
            <a:srgbClr val="F4F8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170" y="18907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正确性检查项</a:t>
            </a:r>
            <a:endParaRPr lang="zh-CN" sz="225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1837" y="2537936"/>
            <a:ext cx="3379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启动成功：8B + vLLM 0.23 +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8537" y="2861786"/>
            <a:ext cx="314998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MiniFlex connector 正常工作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1837" y="3357086"/>
            <a:ext cx="300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补全正确：基础请求可得到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8537" y="3680936"/>
            <a:ext cx="25719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合理输出，推理链路可用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837" y="4176236"/>
            <a:ext cx="3207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KV 传输正确：PUT / GET 后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8537" y="4500086"/>
            <a:ext cx="285060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`torch.equal` 逐字节相等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837" y="4995386"/>
            <a:ext cx="254477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布局一致：GPU ↔ CPU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8537" y="5319236"/>
            <a:ext cx="164306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往返后字节一致</a:t>
            </a:r>
            <a:endParaRPr lang="zh-CN" sz="1720" dirty="0">
              <a:solidFill>
                <a:srgbClr val="0F142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600700" y="1714500"/>
            <a:ext cx="5905500" cy="1257300"/>
            <a:chOff x="5600700" y="1714500"/>
            <a:chExt cx="59055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600700" y="17145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4832" y="190309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1：启动与补全链路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4705" y="2345690"/>
              <a:ext cx="558038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系统能够在目标环境中成功启动，并完成从 connector 到推理输出的完整链路。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00700" y="3219450"/>
            <a:ext cx="5905500" cy="1257300"/>
            <a:chOff x="5600700" y="3219450"/>
            <a:chExt cx="5905500" cy="1257300"/>
          </a:xfrm>
        </p:grpSpPr>
        <p:sp>
          <p:nvSpPr>
            <p:cNvPr id="20" name="Rectangle 20"/>
            <p:cNvSpPr/>
            <p:nvPr/>
          </p:nvSpPr>
          <p:spPr>
            <a:xfrm>
              <a:off x="5600700" y="321945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4832" y="342201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2：数据传输一致性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4705" y="3890010"/>
              <a:ext cx="55035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PUT 把 GPU block 写入 CPU 层，GET 读回后可达到逐字节一致，说明基础搬运链路正确。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0" y="4724400"/>
            <a:ext cx="5905500" cy="1257300"/>
            <a:chOff x="5600700" y="4724400"/>
            <a:chExt cx="5905500" cy="1257300"/>
          </a:xfrm>
        </p:grpSpPr>
        <p:sp>
          <p:nvSpPr>
            <p:cNvPr id="24" name="Rectangle 24"/>
            <p:cNvSpPr/>
            <p:nvPr/>
          </p:nvSpPr>
          <p:spPr>
            <a:xfrm>
              <a:off x="5600700" y="4724400"/>
              <a:ext cx="5905500" cy="12573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4832" y="492696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证据 3：布局自适配成立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4705" y="5343525"/>
              <a:ext cx="551624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`LAYERBLOCK` 与 CPU `LAYERFIRST` 间往返保持一致，说明不同布局的适配逻辑成立。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成果二：长上下文加速效果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819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在长上下文场景中，MiniFlex 命中后可以显著减少全量重算开销，而且上下文越长收益越大。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80391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417705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加速比（热态命中 vs 冷态重算）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33500" y="5372100"/>
            <a:ext cx="6915150" cy="9525"/>
          </a:xfrm>
          <a:custGeom>
            <a:avLst/>
            <a:gdLst/>
            <a:ahLst/>
            <a:cxnLst/>
            <a:rect l="l" t="t" r="r" b="b"/>
            <a:pathLst>
              <a:path w="6915150" h="9525">
                <a:moveTo>
                  <a:pt x="0" y="0"/>
                </a:moveTo>
                <a:lnTo>
                  <a:pt x="691515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33500" y="2400300"/>
            <a:ext cx="9525" cy="2971800"/>
          </a:xfrm>
          <a:custGeom>
            <a:avLst/>
            <a:gdLst/>
            <a:ahLst/>
            <a:cxnLst/>
            <a:rect l="l" t="t" r="r" b="b"/>
            <a:pathLst>
              <a:path w="952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676400" y="2438400"/>
            <a:ext cx="6038850" cy="2933700"/>
            <a:chOff x="1676400" y="2438400"/>
            <a:chExt cx="6038850" cy="2933700"/>
          </a:xfrm>
        </p:grpSpPr>
        <p:sp>
          <p:nvSpPr>
            <p:cNvPr id="10" name="Rectangle 10"/>
            <p:cNvSpPr/>
            <p:nvPr/>
          </p:nvSpPr>
          <p:spPr>
            <a:xfrm>
              <a:off x="1676400" y="4867275"/>
              <a:ext cx="552450" cy="504825"/>
            </a:xfrm>
            <a:prstGeom prst="roundRect">
              <a:avLst>
                <a:gd name="adj" fmla="val 15094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90800" y="4743450"/>
              <a:ext cx="552450" cy="6286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05200" y="4505325"/>
              <a:ext cx="552450" cy="8667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4095750"/>
              <a:ext cx="552450" cy="1276350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3228975"/>
              <a:ext cx="552450" cy="214312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2943225"/>
              <a:ext cx="552450" cy="2428875"/>
            </a:xfrm>
            <a:prstGeom prst="roundRect">
              <a:avLst>
                <a:gd name="adj" fmla="val 13793"/>
              </a:avLst>
            </a:prstGeom>
            <a:solidFill>
              <a:srgbClr val="00B0F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62800" y="2438400"/>
              <a:ext cx="552450" cy="2933700"/>
            </a:xfrm>
            <a:prstGeom prst="roundRect">
              <a:avLst>
                <a:gd name="adj" fmla="val 1379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795834" y="5493068"/>
            <a:ext cx="5849959" cy="264033"/>
            <a:chOff x="1795834" y="5493068"/>
            <a:chExt cx="584995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17958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102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46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9034" y="5493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~8k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34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78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~23k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256" y="5493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~30k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5879" y="2197418"/>
            <a:ext cx="5999893" cy="2692907"/>
            <a:chOff x="1695879" y="2197418"/>
            <a:chExt cx="5999893" cy="2692907"/>
          </a:xfrm>
        </p:grpSpPr>
        <p:sp>
          <p:nvSpPr>
            <p:cNvPr id="26" name="TextBox 26"/>
            <p:cNvSpPr txBox="1"/>
            <p:nvPr/>
          </p:nvSpPr>
          <p:spPr>
            <a:xfrm>
              <a:off x="1695879" y="46262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1.63×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0279" y="4502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2.02×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4679" y="42643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2.76×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39079" y="38547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4.06×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3479" y="29879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6.81×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67879" y="27022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7.71×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2279" y="21974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9.32×</a:t>
              </a:r>
              <a:endParaRPr lang="en-US" sz="13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91600" y="1714500"/>
            <a:ext cx="2716517" cy="4305300"/>
            <a:chOff x="8991600" y="1714500"/>
            <a:chExt cx="2716517" cy="4305300"/>
          </a:xfrm>
        </p:grpSpPr>
        <p:sp>
          <p:nvSpPr>
            <p:cNvPr id="34" name="Rectangle 34"/>
            <p:cNvSpPr/>
            <p:nvPr/>
          </p:nvSpPr>
          <p:spPr>
            <a:xfrm>
              <a:off x="8991600" y="1714500"/>
              <a:ext cx="2514600" cy="4305300"/>
            </a:xfrm>
            <a:prstGeom prst="roundRect">
              <a:avLst>
                <a:gd name="adj" fmla="val 681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5732" y="19450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结论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25915" y="2595880"/>
              <a:ext cx="232092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加速收益随上下文长度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4853" y="291179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持续扩大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5788" y="3422332"/>
              <a:ext cx="1982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省下的重算比例从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85478" y="3746182"/>
              <a:ext cx="21491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39% 提升到约 89%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25788" y="4242117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约 30k 上下文场景下，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4853" y="4565332"/>
              <a:ext cx="1768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TTFT 从 3806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4853" y="486759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降到 408 ms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13970" y="-698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成果三：容量优势与 APC 对比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156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一旦工作集超出 GPU 容量，MiniFlex 的 CPU-backed 复用路径会明显比原生 APC 更稳定。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78105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23096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TTFT 对比（ms）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Line 8"/>
          <p:cNvSpPr/>
          <p:nvPr/>
        </p:nvSpPr>
        <p:spPr>
          <a:xfrm>
            <a:off x="1371600" y="53721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sp>
        <p:nvSpPr>
          <p:cNvPr id="9" name="Line 9"/>
          <p:cNvSpPr/>
          <p:nvPr/>
        </p:nvSpPr>
        <p:spPr>
          <a:xfrm>
            <a:off x="1371600" y="2381250"/>
            <a:ext cx="9525" cy="2990850"/>
          </a:xfrm>
          <a:custGeom>
            <a:avLst/>
            <a:gdLst/>
            <a:ahLst/>
            <a:cxnLst/>
            <a:rect l="l" t="t" r="r" b="b"/>
            <a:pathLst>
              <a:path w="9525" h="2990850">
                <a:moveTo>
                  <a:pt x="0" y="0"/>
                </a:moveTo>
                <a:lnTo>
                  <a:pt x="0" y="2990850"/>
                </a:lnTo>
              </a:path>
            </a:pathLst>
          </a:custGeom>
          <a:noFill/>
          <a:ln w="19050">
            <a:solidFill>
              <a:srgbClr val="AABEDC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828800" y="2867025"/>
            <a:ext cx="4895850" cy="2505075"/>
            <a:chOff x="1828800" y="2867025"/>
            <a:chExt cx="4895850" cy="2505075"/>
          </a:xfrm>
        </p:grpSpPr>
        <p:sp>
          <p:nvSpPr>
            <p:cNvPr id="10" name="Rectangle 10"/>
            <p:cNvSpPr/>
            <p:nvPr/>
          </p:nvSpPr>
          <p:spPr>
            <a:xfrm>
              <a:off x="1828800" y="5019675"/>
              <a:ext cx="438150" cy="352425"/>
            </a:xfrm>
            <a:prstGeom prst="roundRect">
              <a:avLst>
                <a:gd name="adj" fmla="val 16216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24100" y="4657725"/>
              <a:ext cx="438150" cy="7143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10000" y="2924175"/>
              <a:ext cx="438150" cy="244792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05300" y="4686300"/>
              <a:ext cx="438150" cy="685800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91200" y="2867025"/>
              <a:ext cx="438150" cy="2505075"/>
            </a:xfrm>
            <a:prstGeom prst="roundRect">
              <a:avLst>
                <a:gd name="adj" fmla="val 13043"/>
              </a:avLst>
            </a:prstGeom>
            <a:solidFill>
              <a:srgbClr val="6096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4695825"/>
              <a:ext cx="438150" cy="676275"/>
            </a:xfrm>
            <a:prstGeom prst="roundRect">
              <a:avLst>
                <a:gd name="adj" fmla="val 13043"/>
              </a:avLst>
            </a:prstGeom>
            <a:solidFill>
              <a:srgbClr val="002060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946996" y="2634139"/>
            <a:ext cx="4706660" cy="2402014"/>
            <a:chOff x="1946996" y="2634139"/>
            <a:chExt cx="4706660" cy="2402014"/>
          </a:xfrm>
        </p:grpSpPr>
        <p:sp>
          <p:nvSpPr>
            <p:cNvPr id="17" name="TextBox 17"/>
            <p:cNvSpPr txBox="1"/>
            <p:nvPr/>
          </p:nvSpPr>
          <p:spPr>
            <a:xfrm>
              <a:off x="1946996" y="4786789"/>
              <a:ext cx="201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95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95095" y="44248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199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0995" y="269128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684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6295" y="4453414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191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2195" y="26341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7495" y="4462939"/>
              <a:ext cx="296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190</a:t>
              </a:r>
              <a:endParaRPr lang="en-US" sz="128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88756" y="5531168"/>
            <a:ext cx="4425916" cy="264033"/>
            <a:chOff x="2088756" y="5531168"/>
            <a:chExt cx="4425916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20887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~45k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9956" y="5531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~75k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1179" y="5531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44546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~105k</a:t>
              </a:r>
              <a:endPara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1581150" y="5848350"/>
            <a:ext cx="152400" cy="152400"/>
          </a:xfrm>
          <a:prstGeom prst="rect">
            <a:avLst/>
          </a:prstGeom>
          <a:solidFill>
            <a:srgbClr val="6096E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821942" y="5835968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APC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2533650" y="5848350"/>
            <a:ext cx="152400" cy="15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774442" y="5835968"/>
            <a:ext cx="7233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45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MiniFlex</a:t>
            </a:r>
            <a:endParaRPr lang="en-US" sz="1350" dirty="0">
              <a:solidFill>
                <a:srgbClr val="445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8801100" y="1714500"/>
            <a:ext cx="2705100" cy="4305300"/>
            <a:chOff x="8801100" y="1714500"/>
            <a:chExt cx="2705100" cy="4305300"/>
          </a:xfrm>
        </p:grpSpPr>
        <p:sp>
          <p:nvSpPr>
            <p:cNvPr id="32" name="Rectangle 32"/>
            <p:cNvSpPr/>
            <p:nvPr/>
          </p:nvSpPr>
          <p:spPr>
            <a:xfrm>
              <a:off x="8801100" y="1714500"/>
              <a:ext cx="2705100" cy="4305300"/>
            </a:xfrm>
            <a:prstGeom prst="roundRect">
              <a:avLst>
                <a:gd name="adj" fmla="val 63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5232" y="19450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关键信息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9540" y="2447925"/>
              <a:ext cx="2378075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~45k 工作集仍装得进 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   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时，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4603" y="2691447"/>
              <a:ext cx="1413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APC 命中更快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9540" y="3290570"/>
              <a:ext cx="229806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一旦工作集超过 GPU KV 容量，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APC 迅速出现 100%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9540" y="4424680"/>
              <a:ext cx="2378075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通过 CPU 层承接溢出，</a:t>
              </a: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仍维持约 190 ms 且0% miss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成果四：混合负载与指标体系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2732" y="954405"/>
            <a:ext cx="1231630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在热点与长尾共存的真实负载里，MiniFlex 与 APC 组合能在速度与容量之间取得更平衡的效果。</a:t>
            </a:r>
            <a:endParaRPr lang="zh-CN" sz="210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85800" y="1714500"/>
            <a:ext cx="10820400" cy="260921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9F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9932" y="1868805"/>
            <a:ext cx="3644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混合负载结果（TTFT, ms）</a:t>
            </a:r>
            <a:endParaRPr lang="zh-CN" sz="21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90600" y="2362200"/>
            <a:ext cx="10210800" cy="514350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3045" y="2517458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配置</a:t>
            </a:r>
            <a:endParaRPr lang="zh-CN" sz="16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42267" y="2517458"/>
            <a:ext cx="3832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hot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13163" y="2517458"/>
            <a:ext cx="3943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tail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34962" y="2517458"/>
            <a:ext cx="7608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</a:t>
            </a:r>
            <a:endParaRPr lang="en-US" sz="165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67607" y="2876550"/>
            <a:ext cx="10233793" cy="1314450"/>
            <a:chOff x="967607" y="2876550"/>
            <a:chExt cx="10233793" cy="1314450"/>
          </a:xfrm>
        </p:grpSpPr>
        <p:sp>
          <p:nvSpPr>
            <p:cNvPr id="13" name="Rectangle 13"/>
            <p:cNvSpPr/>
            <p:nvPr/>
          </p:nvSpPr>
          <p:spPr>
            <a:xfrm>
              <a:off x="990600" y="2876550"/>
              <a:ext cx="10210800" cy="43815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31544" y="2984182"/>
              <a:ext cx="404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03350" y="29841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60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871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707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3767" y="2984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515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90600" y="3314700"/>
              <a:ext cx="102108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1530" y="3422332"/>
              <a:ext cx="884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22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871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3767" y="342233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153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90600" y="3752850"/>
              <a:ext cx="10210800" cy="438150"/>
            </a:xfrm>
            <a:prstGeom prst="rect">
              <a:avLst/>
            </a:prstGeom>
            <a:solidFill>
              <a:srgbClr val="EA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7607" y="3860482"/>
              <a:ext cx="153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APC + MiniFlex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350" y="386048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67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871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188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3767" y="38604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F142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165</a:t>
              </a:r>
              <a:endParaRPr lang="en-US" sz="1650" dirty="0">
                <a:solidFill>
                  <a:srgbClr val="0F142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0250" y="4519930"/>
            <a:ext cx="5200650" cy="1868805"/>
            <a:chOff x="730250" y="4519930"/>
            <a:chExt cx="5200650" cy="1676400"/>
          </a:xfrm>
        </p:grpSpPr>
        <p:sp>
          <p:nvSpPr>
            <p:cNvPr id="29" name="Rectangle 29"/>
            <p:cNvSpPr/>
            <p:nvPr/>
          </p:nvSpPr>
          <p:spPr>
            <a:xfrm>
              <a:off x="730250" y="4519930"/>
              <a:ext cx="5200650" cy="1676400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0727" y="4728845"/>
              <a:ext cx="1152144" cy="289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结果解读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0473" y="5103812"/>
              <a:ext cx="42077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APC 更擅长热点数据留在 GPU 的极快命中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MiniFlex 更擅长长尾超容量场景的稳定复用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两者叠加后更贴近真实业务的混合负载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5860" y="4519930"/>
            <a:ext cx="5200650" cy="1864996"/>
            <a:chOff x="6245860" y="4683683"/>
            <a:chExt cx="5200650" cy="1779561"/>
          </a:xfrm>
        </p:grpSpPr>
        <p:sp>
          <p:nvSpPr>
            <p:cNvPr id="33" name="Rectangle 33"/>
            <p:cNvSpPr/>
            <p:nvPr/>
          </p:nvSpPr>
          <p:spPr>
            <a:xfrm>
              <a:off x="6245860" y="4683683"/>
              <a:ext cx="5200650" cy="1746235"/>
            </a:xfrm>
            <a:prstGeom prst="roundRect">
              <a:avLst>
                <a:gd name="adj" fmla="val 10227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0782" y="4847624"/>
              <a:ext cx="1717548" cy="307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当前指标体系</a:t>
              </a:r>
              <a:endParaRPr lang="zh-CN" sz="21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8580" y="5169114"/>
              <a:ext cx="4590415" cy="1294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服务可用性：成功率、失败率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核心性能：TTFT、TPOT、吞吐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缓存行为：KV 使用率、prefix 命中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资源压力：GPU / CPU 占用与上下文分档</a:t>
              </a:r>
              <a:endParaRPr 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创新点与增量贡献（1/2）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535"/>
            <a:ext cx="11242040" cy="14458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本项目参考了开源项目FlexKV 的部分思路</a:t>
            </a:r>
            <a:r>
              <a:rPr lang="en-US" alt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,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本页展示与版本适配、任务管理和布局解耦相关的代表性增量贡献。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在项目开发期间，我队还积极与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FlexKv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开发者沟通，并累计形成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8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项公开开发记录，其中包括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6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项已合并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、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项待合并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PR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和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1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</a:t>
            </a:r>
            <a:r>
              <a:rPr lang="en-US" alt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Issue </a:t>
            </a:r>
            <a:r>
              <a:rPr lang="zh-CN" altLang="en-US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讨论，体现了我队对项目的持续投入。</a:t>
            </a:r>
            <a:endParaRPr lang="zh-CN" altLang="en-US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31190" y="2642870"/>
            <a:ext cx="5219700" cy="1796415"/>
            <a:chOff x="685800" y="1826260"/>
            <a:chExt cx="5219700" cy="1796415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826260"/>
              <a:ext cx="5219700" cy="179641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205867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20881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2005806"/>
              <a:ext cx="32033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vLLM 0.23 版本布局适配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295525"/>
              <a:ext cx="48050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面向非 MLA 场景新增 `LAYERBLOCK` 路径，适配 GPU KV Cache 新布局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用 stride / pitch 描述布局差异，避免将旧版布局假设写死在实现中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31890" y="2642870"/>
            <a:ext cx="5219700" cy="1789430"/>
            <a:chOff x="6286500" y="1854787"/>
            <a:chExt cx="5219700" cy="148590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854787"/>
              <a:ext cx="5219700" cy="148590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20059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2088197"/>
              <a:ext cx="113671" cy="1724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2005806"/>
              <a:ext cx="3019234" cy="257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批处理任务生命周期重构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83680" y="2295601"/>
              <a:ext cx="4802505" cy="578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下层与上层共同跟踪 merged task，修正“子任务视角等待”错配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降低状态丢失、任务泄漏与完成通知错位风险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31190" y="4614545"/>
            <a:ext cx="5219700" cy="1698625"/>
            <a:chOff x="685800" y="3295650"/>
            <a:chExt cx="5219700" cy="1698625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3295650"/>
              <a:ext cx="5219700" cy="1698625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350520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35975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3515201"/>
              <a:ext cx="297294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同步 GET 完成清理机制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3990975"/>
              <a:ext cx="4860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 `complete=false` 任务增加标志位，区分“已被上层查询”状态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真正完成时可立即清理字典项，而非长期滞留等待超时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56020" y="4614545"/>
            <a:ext cx="5219700" cy="1703070"/>
            <a:chOff x="6256020" y="4267200"/>
            <a:chExt cx="5219700" cy="170307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56020" y="4267200"/>
              <a:ext cx="5219700" cy="1703070"/>
            </a:xfrm>
            <a:prstGeom prst="roundRect">
              <a:avLst>
                <a:gd name="adj" fmla="val 11538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47865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580184" y="45691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50583" y="4486751"/>
              <a:ext cx="349655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CPU / SSD 异构 layout 解耦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553200" y="4962525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SSD 固定 `BLOCKFIRST`，CPU 保持上层访问友好的布局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借助 `preadv/pwritev` 连接离散内存与连续磁盘区域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7354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创新点与增量贡献（2/2）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834866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本页展示与传输热路径、内存池行为和工程边界增强相关的补充增量贡献。</a:t>
            </a:r>
            <a:endParaRPr lang="zh-CN" sz="1880" dirty="0">
              <a:solidFill>
                <a:srgbClr val="44546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2014220"/>
            <a:chOff x="685800" y="1676400"/>
            <a:chExt cx="5219700" cy="201422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201422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30192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传输类封装与初始化前移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982980" y="2371725"/>
              <a:ext cx="484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将 SSD↔CPU、CPU↔GPU 传输封装为可复用 C++ 类，在 worker 初始化时完成参数准备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减少每次传输重复计算步长、指针与文件参数的调用开销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>
            <p:custDataLst>
              <p:tags r:id="rId7"/>
            </p:custDataLst>
          </p:nvPr>
        </p:nvGrpSpPr>
        <p:grpSpPr>
          <a:xfrm>
            <a:off x="6286500" y="1676400"/>
            <a:ext cx="5258435" cy="2002790"/>
            <a:chOff x="6286500" y="1676400"/>
            <a:chExt cx="5258435" cy="200279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6286500" y="1676400"/>
              <a:ext cx="5219700" cy="200279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9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981063" y="1895951"/>
              <a:ext cx="281452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底层 2D 传输实现优化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496050" y="2371725"/>
              <a:ext cx="50488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调整 GPU/CPU 底层 2D 传输函数实现方式，改为更适合当前场景的双层循环组织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属于对 FlexKV 原始热路径实现的本地化工程优化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>
            <p:custDataLst>
              <p:tags r:id="rId13"/>
            </p:custDataLst>
          </p:nvPr>
        </p:nvGrpSpPr>
        <p:grpSpPr>
          <a:xfrm>
            <a:off x="685800" y="4072255"/>
            <a:ext cx="5219700" cy="2000250"/>
            <a:chOff x="685800" y="4072255"/>
            <a:chExt cx="5219700" cy="2000250"/>
          </a:xfrm>
        </p:grpSpPr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685800" y="4072255"/>
              <a:ext cx="5219700" cy="20002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15"/>
              </p:custDataLst>
            </p:nvPr>
          </p:nvSpPr>
          <p:spPr>
            <a:xfrm>
              <a:off x="8953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10099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1380363" y="4241006"/>
              <a:ext cx="28284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mempool 回收感知增强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82980" y="4636770"/>
              <a:ext cx="48418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为释放后的块增加即时可感知标志，分配阶段可更早触发重统计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面向“大量申请、较少释放”的推理负载场景做工程性优化探索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9"/>
            </p:custDataLst>
          </p:nvPr>
        </p:nvGrpSpPr>
        <p:grpSpPr>
          <a:xfrm>
            <a:off x="6286500" y="4021455"/>
            <a:ext cx="5219700" cy="2032000"/>
            <a:chOff x="6286500" y="4021455"/>
            <a:chExt cx="5219700" cy="2032000"/>
          </a:xfrm>
        </p:grpSpPr>
        <p:sp>
          <p:nvSpPr>
            <p:cNvPr id="24" name="Rectangle 24"/>
            <p:cNvSpPr/>
            <p:nvPr>
              <p:custDataLst>
                <p:tags r:id="rId20"/>
              </p:custDataLst>
            </p:nvPr>
          </p:nvSpPr>
          <p:spPr>
            <a:xfrm>
              <a:off x="6286500" y="4021455"/>
              <a:ext cx="5219700" cy="203200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1"/>
              </p:custDataLst>
            </p:nvPr>
          </p:nvSpPr>
          <p:spPr>
            <a:xfrm>
              <a:off x="6496050" y="4241165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6610664" y="4323397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981063" y="4241006"/>
              <a:ext cx="128270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非整体照搬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6496050" y="4636770"/>
              <a:ext cx="5010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当前实现聚焦单机单卡、vLLM V1 connector 与 GPU/CPU/SSD 三层缓存管理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43616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AI 工具使用说明与披露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3875" y="978694"/>
            <a:ext cx="5596890" cy="288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本队将 AI 定位为辅助工具，而非替代成员实现的主体</a:t>
            </a:r>
            <a:endParaRPr lang="zh-CN" sz="1880" dirty="0">
              <a:solidFill>
                <a:schemeClr val="tx1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grpSp>
        <p:nvGrpSpPr>
          <p:cNvPr id="11" name="Group 11"/>
          <p:cNvGrpSpPr/>
          <p:nvPr>
            <p:custDataLst>
              <p:tags r:id="rId1"/>
            </p:custDataLst>
          </p:nvPr>
        </p:nvGrpSpPr>
        <p:grpSpPr>
          <a:xfrm>
            <a:off x="685800" y="1676400"/>
            <a:ext cx="5219700" cy="3312680"/>
            <a:chOff x="685800" y="1676400"/>
            <a:chExt cx="5219700" cy="2714239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685800" y="1676400"/>
              <a:ext cx="521970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8953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009964" y="1949723"/>
              <a:ext cx="113671" cy="170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1380363" y="1895951"/>
              <a:ext cx="1656207" cy="25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当前使用场景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009650" y="2228944"/>
              <a:ext cx="4718050" cy="8985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在写项目测试脚本时，我队使用了 AI 助手辅助，告诉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思路后，让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编写，人工复核</a:t>
              </a:r>
              <a:endParaRPr lang="zh-CN" altLang="en-US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• </a:t>
              </a:r>
              <a:r>
                <a:rPr lang="zh-CN" altLang="en-US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使用模型：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claude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en-US" alt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7"/>
            <p:cNvSpPr/>
            <p:nvPr>
              <p:custDataLst>
                <p:tags r:id="rId7"/>
              </p:custDataLst>
            </p:nvPr>
          </p:nvSpPr>
          <p:spPr>
            <a:xfrm>
              <a:off x="5127625" y="4047739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</p:grpSp>
      <p:grpSp>
        <p:nvGrpSpPr>
          <p:cNvPr id="17" name="Group 17"/>
          <p:cNvGrpSpPr/>
          <p:nvPr>
            <p:custDataLst>
              <p:tags r:id="rId8"/>
            </p:custDataLst>
          </p:nvPr>
        </p:nvGrpSpPr>
        <p:grpSpPr>
          <a:xfrm>
            <a:off x="6341110" y="1676400"/>
            <a:ext cx="5219700" cy="1929765"/>
            <a:chOff x="6341110" y="1676400"/>
            <a:chExt cx="5219700" cy="1929765"/>
          </a:xfrm>
        </p:grpSpPr>
        <p:sp>
          <p:nvSpPr>
            <p:cNvPr id="12" name="Rectangle 12"/>
            <p:cNvSpPr/>
            <p:nvPr>
              <p:custDataLst>
                <p:tags r:id="rId9"/>
              </p:custDataLst>
            </p:nvPr>
          </p:nvSpPr>
          <p:spPr>
            <a:xfrm>
              <a:off x="6341110" y="1676400"/>
              <a:ext cx="5219700" cy="1929765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10"/>
              </p:custDataLst>
            </p:nvPr>
          </p:nvSpPr>
          <p:spPr>
            <a:xfrm>
              <a:off x="6496050" y="1885950"/>
              <a:ext cx="342900" cy="342900"/>
            </a:xfrm>
            <a:prstGeom prst="ellipse">
              <a:avLst/>
            </a:prstGeom>
            <a:solidFill>
              <a:srgbClr val="EAF6FF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6610664" y="1978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6981063" y="1895951"/>
              <a:ext cx="165620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人工复核原则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6583680" y="2371725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AI 输出内容由本队成员结合代码实现和实验结果进行人工核对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所有技术表述、测试结论和答辩内容均以人工复核结果为准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Ellipse 7"/>
          <p:cNvSpPr/>
          <p:nvPr>
            <p:custDataLst>
              <p:tags r:id="rId14"/>
            </p:custDataLst>
          </p:nvPr>
        </p:nvSpPr>
        <p:spPr>
          <a:xfrm>
            <a:off x="5127625" y="452866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grpSp>
        <p:nvGrpSpPr>
          <p:cNvPr id="29" name="Group 29"/>
          <p:cNvGrpSpPr/>
          <p:nvPr>
            <p:custDataLst>
              <p:tags r:id="rId15"/>
            </p:custDataLst>
          </p:nvPr>
        </p:nvGrpSpPr>
        <p:grpSpPr>
          <a:xfrm>
            <a:off x="2315845" y="4366895"/>
            <a:ext cx="7458075" cy="1581150"/>
            <a:chOff x="2603500" y="4366895"/>
            <a:chExt cx="6681470" cy="1581150"/>
          </a:xfrm>
        </p:grpSpPr>
        <p:sp>
          <p:nvSpPr>
            <p:cNvPr id="24" name="Rectangle 24"/>
            <p:cNvSpPr/>
            <p:nvPr>
              <p:custDataLst>
                <p:tags r:id="rId16"/>
              </p:custDataLst>
            </p:nvPr>
          </p:nvSpPr>
          <p:spPr>
            <a:xfrm>
              <a:off x="2603500" y="4366895"/>
              <a:ext cx="6681470" cy="1581150"/>
            </a:xfrm>
            <a:prstGeom prst="roundRect">
              <a:avLst>
                <a:gd name="adj" fmla="val 10843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</p:sp>
        <p:sp>
          <p:nvSpPr>
            <p:cNvPr id="27" name="TextBox 27"/>
            <p:cNvSpPr txBox="1"/>
            <p:nvPr>
              <p:custDataLst>
                <p:tags r:id="rId17"/>
              </p:custDataLst>
            </p:nvPr>
          </p:nvSpPr>
          <p:spPr>
            <a:xfrm>
              <a:off x="5612638" y="4612481"/>
              <a:ext cx="1026160" cy="309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记录留存</a:t>
              </a:r>
              <a:endParaRPr lang="zh-CN" sz="202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8"/>
              </p:custDataLst>
            </p:nvPr>
          </p:nvSpPr>
          <p:spPr>
            <a:xfrm>
              <a:off x="2964180" y="5062220"/>
              <a:ext cx="6263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当前已额外整理 AI 使用文件，见 `</a:t>
              </a:r>
              <a:r>
                <a:rPr lang="en-US" alt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miniflex/docs/</a:t>
              </a:r>
              <a:r>
                <a:rPr lang="zh-CN" sz="150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test_overview.md`</a:t>
              </a: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250"/>
                </a:lnSpc>
              </a:pPr>
              <a:endParaRPr lang="zh-CN" sz="150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19"/>
              </p:custDataLst>
            </p:nvPr>
          </p:nvSpPr>
          <p:spPr>
            <a:xfrm>
              <a:off x="5242239" y="4694872"/>
              <a:ext cx="11367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B0F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8106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Ellipse 7"/>
          <p:cNvSpPr/>
          <p:nvPr>
            <p:custDataLst>
              <p:tags r:id="rId20"/>
            </p:custDataLst>
          </p:nvPr>
        </p:nvSpPr>
        <p:spPr>
          <a:xfrm>
            <a:off x="5127625" y="4570577"/>
            <a:ext cx="342900" cy="418503"/>
          </a:xfrm>
          <a:prstGeom prst="ellipse">
            <a:avLst/>
          </a:prstGeom>
          <a:solidFill>
            <a:srgbClr val="EAF6FF"/>
          </a:solidFill>
          <a:ln>
            <a:noFill/>
          </a:ln>
        </p:spPr>
      </p:sp>
      <p:sp>
        <p:nvSpPr>
          <p:cNvPr id="37" name="TextBox 8"/>
          <p:cNvSpPr txBox="1"/>
          <p:nvPr>
            <p:custDataLst>
              <p:tags r:id="rId21"/>
            </p:custDataLst>
          </p:nvPr>
        </p:nvSpPr>
        <p:spPr>
          <a:xfrm>
            <a:off x="5242239" y="4694770"/>
            <a:ext cx="113671" cy="207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00B0F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dirty="0">
              <a:solidFill>
                <a:srgbClr val="00B0F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762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800100"/>
            <a:ext cx="112776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8160" y="2095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rPr>
              <a:t>成员分工</a:t>
            </a:r>
            <a:endParaRPr lang="zh-CN" sz="3000" dirty="0">
              <a:solidFill>
                <a:srgbClr val="002060"/>
              </a:solidFill>
              <a:latin typeface="Arial" panose="020B0604020202020204"/>
              <a:ea typeface="黑体" panose="02010609060101010101" charset="-122"/>
              <a:cs typeface="Arial" panose="020B0604020202020204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>
            <a:off x="838200" y="1503045"/>
            <a:ext cx="3276600" cy="4636770"/>
            <a:chOff x="838200" y="1962150"/>
            <a:chExt cx="3276600" cy="463677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838200" y="1962150"/>
              <a:ext cx="3276600" cy="463677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" name="Ellipse 7"/>
            <p:cNvSpPr/>
            <p:nvPr>
              <p:custDataLst>
                <p:tags r:id="rId3"/>
              </p:custDataLst>
            </p:nvPr>
          </p:nvSpPr>
          <p:spPr>
            <a:xfrm>
              <a:off x="20764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23836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2010728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井光成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376934" y="3634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方案设计和代码实现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264285" y="4043045"/>
              <a:ext cx="2849880" cy="972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总体技术路线设计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MiniFle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核心模块实现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vLLM connector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接入与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兼容适配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缓存、存储、传输等关键链路联调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系统整体架构推进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8"/>
            </p:custDataLst>
          </p:nvPr>
        </p:nvGrpSpPr>
        <p:grpSpPr>
          <a:xfrm>
            <a:off x="4457700" y="1503045"/>
            <a:ext cx="3276600" cy="4636135"/>
            <a:chOff x="4457700" y="1962150"/>
            <a:chExt cx="3276600" cy="4636135"/>
          </a:xfrm>
        </p:grpSpPr>
        <p:sp>
          <p:nvSpPr>
            <p:cNvPr id="13" name="Rectangle 13"/>
            <p:cNvSpPr/>
            <p:nvPr>
              <p:custDataLst>
                <p:tags r:id="rId9"/>
              </p:custDataLst>
            </p:nvPr>
          </p:nvSpPr>
          <p:spPr>
            <a:xfrm>
              <a:off x="4457700" y="1962150"/>
              <a:ext cx="3276600" cy="4636135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" name="Ellipse 14"/>
            <p:cNvSpPr/>
            <p:nvPr>
              <p:custDataLst>
                <p:tags r:id="rId10"/>
              </p:custDataLst>
            </p:nvPr>
          </p:nvSpPr>
          <p:spPr>
            <a:xfrm>
              <a:off x="5695950" y="219075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03188" y="24784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5630227" y="310991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祁馨叶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5117592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文档和资料的搜集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4954270" y="4031615"/>
              <a:ext cx="2499995" cy="970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赛题背景与相关方案调研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技术资料整理与路线分析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设计开发文档撰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阶段性开发记录整理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汇报材料与说明文档配套准备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>
            <p:custDataLst>
              <p:tags r:id="rId15"/>
            </p:custDataLst>
          </p:nvPr>
        </p:nvGrpSpPr>
        <p:grpSpPr>
          <a:xfrm>
            <a:off x="8121650" y="1503045"/>
            <a:ext cx="3276600" cy="4599940"/>
            <a:chOff x="8121650" y="1503045"/>
            <a:chExt cx="3276600" cy="4599940"/>
          </a:xfrm>
        </p:grpSpPr>
        <p:sp>
          <p:nvSpPr>
            <p:cNvPr id="20" name="Rectangle 20"/>
            <p:cNvSpPr/>
            <p:nvPr>
              <p:custDataLst>
                <p:tags r:id="rId16"/>
              </p:custDataLst>
            </p:nvPr>
          </p:nvSpPr>
          <p:spPr>
            <a:xfrm>
              <a:off x="8121650" y="1503045"/>
              <a:ext cx="3276600" cy="4599940"/>
            </a:xfrm>
            <a:prstGeom prst="roundRect">
              <a:avLst>
                <a:gd name="adj" fmla="val 5814"/>
              </a:avLst>
            </a:prstGeom>
            <a:solidFill>
              <a:srgbClr val="F4F8FF"/>
            </a:solidFill>
            <a:ln w="9525">
              <a:solidFill>
                <a:srgbClr val="C9D9F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Ellipse 21"/>
            <p:cNvSpPr/>
            <p:nvPr>
              <p:custDataLst>
                <p:tags r:id="rId17"/>
              </p:custDataLst>
            </p:nvPr>
          </p:nvSpPr>
          <p:spPr>
            <a:xfrm>
              <a:off x="9315450" y="1737360"/>
              <a:ext cx="800100" cy="800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9622688" y="202501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21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9315133" y="2650807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206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徐子淳</a:t>
              </a:r>
              <a:endParaRPr lang="zh-CN" sz="2250" dirty="0">
                <a:solidFill>
                  <a:srgbClr val="00206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8858250" y="32035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4454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搜集资料，测试</a:t>
              </a:r>
              <a:endParaRPr lang="zh-CN" sz="1800" dirty="0">
                <a:solidFill>
                  <a:srgbClr val="4454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1"/>
              </p:custDataLst>
            </p:nvPr>
          </p:nvSpPr>
          <p:spPr>
            <a:xfrm>
              <a:off x="8615680" y="3572510"/>
              <a:ext cx="2516505" cy="970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参与技术调研与方案讨论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测试方案设计与基准脚本整理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长上下文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超容量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混合负载实验验证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代码调试与问题修复</a:t>
              </a: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</a:t>
              </a:r>
              <a:endParaRPr lang="en-US" altLang="zh-CN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550"/>
                </a:lnSpc>
              </a:pPr>
              <a:r>
                <a:rPr lang="en-US" altLang="zh-CN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</a:t>
              </a:r>
              <a:r>
                <a:rPr lang="zh-CN" altLang="en-US" sz="1650" dirty="0">
                  <a:solidFill>
                    <a:srgbClr val="0F142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文档与展示材料辅助完善</a:t>
              </a:r>
              <a:endParaRPr lang="zh-CN" altLang="en-US" sz="1650" dirty="0">
                <a:solidFill>
                  <a:srgbClr val="0F142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29086" y="6404610"/>
            <a:ext cx="16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lang="en-US" sz="1200" dirty="0">
              <a:solidFill>
                <a:srgbClr val="6B728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3763" y="2110"/>
            <a:ext cx="12184475" cy="2425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3763" y="2494518"/>
            <a:ext cx="12184475" cy="706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7819" y="3909130"/>
            <a:ext cx="511636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59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59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7415" y="-21882"/>
            <a:ext cx="11537173" cy="3150235"/>
          </a:xfrm>
          <a:prstGeom prst="rect">
            <a:avLst/>
          </a:prstGeom>
        </p:spPr>
        <p:txBody>
          <a:bodyPr wrap="square" lIns="91378" tIns="45689" rIns="91378" bIns="45689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dist"/>
            <a:r>
              <a:rPr lang="en-US" altLang="zh-CN" sz="19885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885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7157" y="1197713"/>
            <a:ext cx="2437684" cy="2437687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5125049" y="1452197"/>
            <a:ext cx="1941900" cy="1925401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6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3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4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5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6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7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8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79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0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1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2.xml><?xml version="1.0" encoding="utf-8"?>
<p:tagLst xmlns:p="http://schemas.openxmlformats.org/presentationml/2006/main">
  <p:tag name="KSO_WM_DIAGRAM_VIRTUALLY_FRAME" val="{&quot;height&quot;:331.5,&quot;left&quot;:54,&quot;top&quot;:127.5,&quot;width&quot;:853.8}"/>
</p:tagLst>
</file>

<file path=ppt/tags/tag8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8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3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4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5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6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7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8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99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0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1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2.xml><?xml version="1.0" encoding="utf-8"?>
<p:tagLst xmlns:p="http://schemas.openxmlformats.org/presentationml/2006/main">
  <p:tag name="KSO_WM_DIAGRAM_VIRTUALLY_FRAME" val="{&quot;height&quot;:307.5,&quot;left&quot;:54,&quot;top&quot;:127.5,&quot;width&quot;:852}"/>
</p:tagLst>
</file>

<file path=ppt/tags/tag10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5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6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7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8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09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0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1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2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3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4.xml><?xml version="1.0" encoding="utf-8"?>
<p:tagLst xmlns:p="http://schemas.openxmlformats.org/presentationml/2006/main">
  <p:tag name="KSO_WM_DIAGRAM_VIRTUALLY_FRAME" val="{&quot;height&quot;:171,&quot;left&quot;:78,&quot;top&quot;:261,&quot;width&quot;:804.6899999999999}"/>
</p:tagLst>
</file>

<file path=ppt/tags/tag11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1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0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1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2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3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4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5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6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7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8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29.xml><?xml version="1.0" encoding="utf-8"?>
<p:tagLst xmlns:p="http://schemas.openxmlformats.org/presentationml/2006/main">
  <p:tag name="KSO_WM_DIAGRAM_VIRTUALLY_FRAME" val="{&quot;height&quot;:219,&quot;left&quot;:60,&quot;top&quot;:228,&quot;width&quot;:910.7700000000001}"/>
</p:tagLst>
</file>

<file path=ppt/tags/tag13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3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4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5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6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7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8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49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0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1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2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3.xml><?xml version="1.0" encoding="utf-8"?>
<p:tagLst xmlns:p="http://schemas.openxmlformats.org/presentationml/2006/main">
  <p:tag name="KSO_WM_DIAGRAM_VIRTUALLY_FRAME" val="{&quot;height&quot;:353.65,&quot;left&quot;:49.7,&quot;top&quot;:143.8,&quot;width&quot;:856.3}"/>
</p:tagLst>
</file>

<file path=ppt/tags/tag15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5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8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69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0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1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2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3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4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5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6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7.xml><?xml version="1.0" encoding="utf-8"?>
<p:tagLst xmlns:p="http://schemas.openxmlformats.org/presentationml/2006/main">
  <p:tag name="KSO_WM_DIAGRAM_VIRTUALLY_FRAME" val="{&quot;height&quot;:346.15,&quot;left&quot;:54,&quot;top&quot;:132,&quot;width&quot;:855.05}"/>
</p:tagLst>
</file>

<file path=ppt/tags/tag17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7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89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0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1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2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3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4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5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6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7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8.xml><?xml version="1.0" encoding="utf-8"?>
<p:tagLst xmlns:p="http://schemas.openxmlformats.org/presentationml/2006/main">
  <p:tag name="KSO_WM_DIAGRAM_VIRTUALLY_FRAME" val="{&quot;height&quot;:303.35,&quot;left&quot;:54,&quot;top&quot;:132,&quot;width&quot;:957.6}"/>
</p:tagLst>
</file>

<file path=ppt/tags/tag199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0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1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2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3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4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5.xml><?xml version="1.0" encoding="utf-8"?>
<p:tagLst xmlns:p="http://schemas.openxmlformats.org/presentationml/2006/main">
  <p:tag name="KSO_WM_DIAGRAM_VIRTUALLY_FRAME" val="{&quot;height&quot;:399.6,&quot;left&quot;:66,&quot;top&quot;:118.35,&quot;width&quot;:828}"/>
</p:tagLst>
</file>

<file path=ppt/tags/tag206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7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8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09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0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1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2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3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4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5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6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7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8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ags/tag219.xml><?xml version="1.0" encoding="utf-8"?>
<p:tagLst xmlns:p="http://schemas.openxmlformats.org/presentationml/2006/main">
  <p:tag name="KSO_WM_DIAGRAM_VIRTUALLY_FRAME" val="{&quot;height&quot;:399.6,&quot;left&quot;:66,&quot;top&quot;:118.35,&quot;width&quot;:831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4330</Words>
  <Application>WPS 演示</Application>
  <PresentationFormat>On-screen Show (16:9)</PresentationFormat>
  <Paragraphs>564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Wingdings</vt:lpstr>
      <vt:lpstr>方正小标宋简体</vt:lpstr>
      <vt:lpstr>黑体</vt:lpstr>
      <vt:lpstr>Arial Unicode MS</vt:lpstr>
      <vt:lpstr>Calibri</vt:lpstr>
      <vt:lpstr>Office Theme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徐子淳</cp:lastModifiedBy>
  <cp:revision>6</cp:revision>
  <dcterms:created xsi:type="dcterms:W3CDTF">2026-06-27T15:37:00Z</dcterms:created>
  <dcterms:modified xsi:type="dcterms:W3CDTF">2026-06-29T12:33:39Z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25AE408C3E1A4456A7F4B09C2EB8F455_13</vt:lpwstr>
  </property>
  <property fmtid="{D5CDD505-2E9C-101B-9397-08002B2CF9AE}" pid="3" name="KSOProductBuildVer">
    <vt:lpwstr>2052-12.1.0.23542</vt:lpwstr>
  </property>
</Properties>
</file>