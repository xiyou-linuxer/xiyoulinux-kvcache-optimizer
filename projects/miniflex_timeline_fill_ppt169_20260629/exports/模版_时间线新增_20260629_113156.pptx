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10.xml" ContentType="application/vnd.openxmlformats-officedocument.presentationml.tags+xml"/>
  <ns0:Override PartName="/ppt/tags/tag11.xml" ContentType="application/vnd.openxmlformats-officedocument.presentationml.tags+xml"/>
  <ns0:Override PartName="/ppt/tags/tag12.xml" ContentType="application/vnd.openxmlformats-officedocument.presentationml.tags+xml"/>
  <ns0:Override PartName="/ppt/tags/tag13.xml" ContentType="application/vnd.openxmlformats-officedocument.presentationml.tags+xml"/>
  <ns0:Override PartName="/ppt/tags/tag14.xml" ContentType="application/vnd.openxmlformats-officedocument.presentationml.tags+xml"/>
  <ns0:Override PartName="/ppt/tags/tag15.xml" ContentType="application/vnd.openxmlformats-officedocument.presentationml.tags+xml"/>
  <ns0:Override PartName="/ppt/tags/tag16.xml" ContentType="application/vnd.openxmlformats-officedocument.presentationml.tags+xml"/>
  <ns0:Override PartName="/ppt/tags/tag17.xml" ContentType="application/vnd.openxmlformats-officedocument.presentationml.tags+xml"/>
  <ns0:Override PartName="/ppt/tags/tag18.xml" ContentType="application/vnd.openxmlformats-officedocument.presentationml.tags+xml"/>
  <ns0:Override PartName="/ppt/tags/tag19.xml" ContentType="application/vnd.openxmlformats-officedocument.presentationml.tags+xml"/>
  <ns0:Override PartName="/ppt/tags/tag2.xml" ContentType="application/vnd.openxmlformats-officedocument.presentationml.tags+xml"/>
  <ns0:Override PartName="/ppt/tags/tag20.xml" ContentType="application/vnd.openxmlformats-officedocument.presentationml.tags+xml"/>
  <ns0:Override PartName="/ppt/tags/tag21.xml" ContentType="application/vnd.openxmlformats-officedocument.presentationml.tags+xml"/>
  <ns0:Override PartName="/ppt/tags/tag22.xml" ContentType="application/vnd.openxmlformats-officedocument.presentationml.tags+xml"/>
  <ns0:Override PartName="/ppt/tags/tag23.xml" ContentType="application/vnd.openxmlformats-officedocument.presentationml.tags+xml"/>
  <ns0:Override PartName="/ppt/tags/tag24.xml" ContentType="application/vnd.openxmlformats-officedocument.presentationml.tags+xml"/>
  <ns0:Override PartName="/ppt/tags/tag25.xml" ContentType="application/vnd.openxmlformats-officedocument.presentationml.tags+xml"/>
  <ns0:Override PartName="/ppt/tags/tag26.xml" ContentType="application/vnd.openxmlformats-officedocument.presentationml.tags+xml"/>
  <ns0:Override PartName="/ppt/tags/tag27.xml" ContentType="application/vnd.openxmlformats-officedocument.presentationml.tags+xml"/>
  <ns0:Override PartName="/ppt/tags/tag28.xml" ContentType="application/vnd.openxmlformats-officedocument.presentationml.tags+xml"/>
  <ns0:Override PartName="/ppt/tags/tag29.xml" ContentType="application/vnd.openxmlformats-officedocument.presentationml.tags+xml"/>
  <ns0:Override PartName="/ppt/tags/tag3.xml" ContentType="application/vnd.openxmlformats-officedocument.presentationml.tags+xml"/>
  <ns0:Override PartName="/ppt/tags/tag30.xml" ContentType="application/vnd.openxmlformats-officedocument.presentationml.tags+xml"/>
  <ns0:Override PartName="/ppt/tags/tag31.xml" ContentType="application/vnd.openxmlformats-officedocument.presentationml.tags+xml"/>
  <ns0:Override PartName="/ppt/tags/tag32.xml" ContentType="application/vnd.openxmlformats-officedocument.presentationml.tags+xml"/>
  <ns0:Override PartName="/ppt/tags/tag33.xml" ContentType="application/vnd.openxmlformats-officedocument.presentationml.tags+xml"/>
  <ns0:Override PartName="/ppt/tags/tag34.xml" ContentType="application/vnd.openxmlformats-officedocument.presentationml.tags+xml"/>
  <ns0:Override PartName="/ppt/tags/tag35.xml" ContentType="application/vnd.openxmlformats-officedocument.presentationml.tags+xml"/>
  <ns0:Override PartName="/ppt/tags/tag36.xml" ContentType="application/vnd.openxmlformats-officedocument.presentationml.tags+xml"/>
  <ns0:Override PartName="/ppt/tags/tag37.xml" ContentType="application/vnd.openxmlformats-officedocument.presentationml.tags+xml"/>
  <ns0:Override PartName="/ppt/tags/tag38.xml" ContentType="application/vnd.openxmlformats-officedocument.presentationml.tags+xml"/>
  <ns0:Override PartName="/ppt/tags/tag39.xml" ContentType="application/vnd.openxmlformats-officedocument.presentationml.tags+xml"/>
  <ns0:Override PartName="/ppt/tags/tag4.xml" ContentType="application/vnd.openxmlformats-officedocument.presentationml.tags+xml"/>
  <ns0:Override PartName="/ppt/tags/tag40.xml" ContentType="application/vnd.openxmlformats-officedocument.presentationml.tags+xml"/>
  <ns0:Override PartName="/ppt/tags/tag41.xml" ContentType="application/vnd.openxmlformats-officedocument.presentationml.tags+xml"/>
  <ns0:Override PartName="/ppt/tags/tag42.xml" ContentType="application/vnd.openxmlformats-officedocument.presentationml.tags+xml"/>
  <ns0:Override PartName="/ppt/tags/tag43.xml" ContentType="application/vnd.openxmlformats-officedocument.presentationml.tags+xml"/>
  <ns0:Override PartName="/ppt/tags/tag44.xml" ContentType="application/vnd.openxmlformats-officedocument.presentationml.tags+xml"/>
  <ns0:Override PartName="/ppt/tags/tag45.xml" ContentType="application/vnd.openxmlformats-officedocument.presentationml.tags+xml"/>
  <ns0:Override PartName="/ppt/tags/tag46.xml" ContentType="application/vnd.openxmlformats-officedocument.presentationml.tags+xml"/>
  <ns0:Override PartName="/ppt/tags/tag47.xml" ContentType="application/vnd.openxmlformats-officedocument.presentationml.tags+xml"/>
  <ns0:Override PartName="/ppt/tags/tag48.xml" ContentType="application/vnd.openxmlformats-officedocument.presentationml.tags+xml"/>
  <ns0:Override PartName="/ppt/tags/tag49.xml" ContentType="application/vnd.openxmlformats-officedocument.presentationml.tags+xml"/>
  <ns0:Override PartName="/ppt/tags/tag5.xml" ContentType="application/vnd.openxmlformats-officedocument.presentationml.tags+xml"/>
  <ns0:Override PartName="/ppt/tags/tag50.xml" ContentType="application/vnd.openxmlformats-officedocument.presentationml.tags+xml"/>
  <ns0:Override PartName="/ppt/tags/tag51.xml" ContentType="application/vnd.openxmlformats-officedocument.presentationml.tags+xml"/>
  <ns0:Override PartName="/ppt/tags/tag52.xml" ContentType="application/vnd.openxmlformats-officedocument.presentationml.tags+xml"/>
  <ns0:Override PartName="/ppt/tags/tag53.xml" ContentType="application/vnd.openxmlformats-officedocument.presentationml.tags+xml"/>
  <ns0:Override PartName="/ppt/tags/tag54.xml" ContentType="application/vnd.openxmlformats-officedocument.presentationml.tags+xml"/>
  <ns0:Override PartName="/ppt/tags/tag55.xml" ContentType="application/vnd.openxmlformats-officedocument.presentationml.tags+xml"/>
  <ns0:Override PartName="/ppt/tags/tag56.xml" ContentType="application/vnd.openxmlformats-officedocument.presentationml.tags+xml"/>
  <ns0:Override PartName="/ppt/tags/tag57.xml" ContentType="application/vnd.openxmlformats-officedocument.presentationml.tags+xml"/>
  <ns0:Override PartName="/ppt/tags/tag58.xml" ContentType="application/vnd.openxmlformats-officedocument.presentationml.tags+xml"/>
  <ns0:Override PartName="/ppt/tags/tag59.xml" ContentType="application/vnd.openxmlformats-officedocument.presentationml.tags+xml"/>
  <ns0:Override PartName="/ppt/tags/tag6.xml" ContentType="application/vnd.openxmlformats-officedocument.presentationml.tags+xml"/>
  <ns0:Override PartName="/ppt/tags/tag60.xml" ContentType="application/vnd.openxmlformats-officedocument.presentationml.tags+xml"/>
  <ns0:Override PartName="/ppt/tags/tag61.xml" ContentType="application/vnd.openxmlformats-officedocument.presentationml.tags+xml"/>
  <ns0:Override PartName="/ppt/tags/tag62.xml" ContentType="application/vnd.openxmlformats-officedocument.presentationml.tags+xml"/>
  <ns0:Override PartName="/ppt/tags/tag7.xml" ContentType="application/vnd.openxmlformats-officedocument.presentationml.tags+xml"/>
  <ns0:Override PartName="/ppt/tags/tag8.xml" ContentType="application/vnd.openxmlformats-officedocument.presentationml.tags+xml"/>
  <ns0:Override PartName="/ppt/tags/tag9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  <ns0:Override PartName="/ppt/slides/slide19.xml" ContentType="application/vnd.openxmlformats-officedocument.presentationml.slide+xml"/>
  <ns0:Override PartName="/ppt/tags/tag71_tf1.xml" ContentType="application/vnd.openxmlformats-officedocument.presentationml.tags+xml"/>
  <ns0:Override PartName="/ppt/tags/tag70_tf1.xml" ContentType="application/vnd.openxmlformats-officedocument.presentationml.tags+xml"/>
  <ns0:Override PartName="/ppt/tags/tag69_tf1.xml" ContentType="application/vnd.openxmlformats-officedocument.presentationml.tags+xml"/>
  <ns0:Override PartName="/ppt/tags/tag68_tf1.xml" ContentType="application/vnd.openxmlformats-officedocument.presentationml.tags+xml"/>
  <ns0:Override PartName="/ppt/tags/tag67_tf1.xml" ContentType="application/vnd.openxmlformats-officedocument.presentationml.tags+xml"/>
  <ns0:Override PartName="/ppt/tags/tag66_tf1.xml" ContentType="application/vnd.openxmlformats-officedocument.presentationml.tags+xml"/>
  <ns0:Override PartName="/ppt/tags/tag65_tf1.xml" ContentType="application/vnd.openxmlformats-officedocument.presentationml.tags+xml"/>
  <ns0:Override PartName="/ppt/tags/tag82_tf1.xml" ContentType="application/vnd.openxmlformats-officedocument.presentationml.tags+xml"/>
  <ns0:Override PartName="/ppt/tags/tag64_tf1.xml" ContentType="application/vnd.openxmlformats-officedocument.presentationml.tags+xml"/>
  <ns0:Override PartName="/ppt/tags/tag81_tf1.xml" ContentType="application/vnd.openxmlformats-officedocument.presentationml.tags+xml"/>
  <ns0:Override PartName="/ppt/tags/tag80_tf1.xml" ContentType="application/vnd.openxmlformats-officedocument.presentationml.tags+xml"/>
  <ns0:Override PartName="/ppt/tags/tag79_tf1.xml" ContentType="application/vnd.openxmlformats-officedocument.presentationml.tags+xml"/>
  <ns0:Override PartName="/ppt/tags/tag78_tf1.xml" ContentType="application/vnd.openxmlformats-officedocument.presentationml.tags+xml"/>
  <ns0:Override PartName="/ppt/tags/tag77_tf1.xml" ContentType="application/vnd.openxmlformats-officedocument.presentationml.tags+xml"/>
  <ns0:Override PartName="/ppt/tags/tag76_tf1.xml" ContentType="application/vnd.openxmlformats-officedocument.presentationml.tags+xml"/>
  <ns0:Override PartName="/ppt/tags/tag75_tf1.xml" ContentType="application/vnd.openxmlformats-officedocument.presentationml.tags+xml"/>
  <ns0:Override PartName="/ppt/tags/tag74_tf1.xml" ContentType="application/vnd.openxmlformats-officedocument.presentationml.tags+xml"/>
  <ns0:Override PartName="/ppt/tags/tag73_tf1.xml" ContentType="application/vnd.openxmlformats-officedocument.presentationml.tags+xml"/>
  <ns0:Override PartName="/ppt/tags/tag72_tf1.xml" ContentType="application/vnd.openxmlformats-officedocument.presentationml.tags+xml"/>
  <ns0:Override PartName="/ppt/tags/tag63_tf1.xml" ContentType="application/vnd.openxmlformats-officedocument.presentationml.tags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tags/tag91_tf1.xml" ContentType="application/vnd.openxmlformats-officedocument.presentationml.tags+xml"/>
  <ns0:Override PartName="/ppt/tags/tag90_tf1.xml" ContentType="application/vnd.openxmlformats-officedocument.presentationml.tags+xml"/>
  <ns0:Override PartName="/ppt/tags/tag89_tf1.xml" ContentType="application/vnd.openxmlformats-officedocument.presentationml.tags+xml"/>
  <ns0:Override PartName="/ppt/tags/tag88_tf1.xml" ContentType="application/vnd.openxmlformats-officedocument.presentationml.tags+xml"/>
  <ns0:Override PartName="/ppt/tags/tag87_tf1.xml" ContentType="application/vnd.openxmlformats-officedocument.presentationml.tags+xml"/>
  <ns0:Override PartName="/ppt/tags/tag86_tf1.xml" ContentType="application/vnd.openxmlformats-officedocument.presentationml.tags+xml"/>
  <ns0:Override PartName="/ppt/tags/tag85_tf1.xml" ContentType="application/vnd.openxmlformats-officedocument.presentationml.tags+xml"/>
  <ns0:Override PartName="/ppt/tags/tag102_tf1.xml" ContentType="application/vnd.openxmlformats-officedocument.presentationml.tags+xml"/>
  <ns0:Override PartName="/ppt/tags/tag84_tf1.xml" ContentType="application/vnd.openxmlformats-officedocument.presentationml.tags+xml"/>
  <ns0:Override PartName="/ppt/tags/tag101_tf1.xml" ContentType="application/vnd.openxmlformats-officedocument.presentationml.tags+xml"/>
  <ns0:Override PartName="/ppt/tags/tag100_tf1.xml" ContentType="application/vnd.openxmlformats-officedocument.presentationml.tags+xml"/>
  <ns0:Override PartName="/ppt/tags/tag99_tf1.xml" ContentType="application/vnd.openxmlformats-officedocument.presentationml.tags+xml"/>
  <ns0:Override PartName="/ppt/tags/tag98_tf1.xml" ContentType="application/vnd.openxmlformats-officedocument.presentationml.tags+xml"/>
  <ns0:Override PartName="/ppt/tags/tag97_tf1.xml" ContentType="application/vnd.openxmlformats-officedocument.presentationml.tags+xml"/>
  <ns0:Override PartName="/ppt/tags/tag96_tf1.xml" ContentType="application/vnd.openxmlformats-officedocument.presentationml.tags+xml"/>
  <ns0:Override PartName="/ppt/tags/tag95_tf1.xml" ContentType="application/vnd.openxmlformats-officedocument.presentationml.tags+xml"/>
  <ns0:Override PartName="/ppt/tags/tag94_tf1.xml" ContentType="application/vnd.openxmlformats-officedocument.presentationml.tags+xml"/>
  <ns0:Override PartName="/ppt/tags/tag93_tf1.xml" ContentType="application/vnd.openxmlformats-officedocument.presentationml.tags+xml"/>
  <ns0:Override PartName="/ppt/tags/tag92_tf1.xml" ContentType="application/vnd.openxmlformats-officedocument.presentationml.tags+xml"/>
  <ns0:Override PartName="/ppt/tags/tag83_tf1.xml" ContentType="application/vnd.openxmlformats-officedocument.presentationml.tags+xml"/>
  <ns0:Override PartName="/ppt/slides/slide22.xml" ContentType="application/vnd.openxmlformats-officedocument.presentationml.slide+xml"/>
  <ns0:Override PartName="/ppt/tags/tag111_tf1.xml" ContentType="application/vnd.openxmlformats-officedocument.presentationml.tags+xml"/>
  <ns0:Override PartName="/ppt/tags/tag110_tf1.xml" ContentType="application/vnd.openxmlformats-officedocument.presentationml.tags+xml"/>
  <ns0:Override PartName="/ppt/tags/tag109_tf1.xml" ContentType="application/vnd.openxmlformats-officedocument.presentationml.tags+xml"/>
  <ns0:Override PartName="/ppt/tags/tag108_tf1.xml" ContentType="application/vnd.openxmlformats-officedocument.presentationml.tags+xml"/>
  <ns0:Override PartName="/ppt/tags/tag107_tf1.xml" ContentType="application/vnd.openxmlformats-officedocument.presentationml.tags+xml"/>
  <ns0:Override PartName="/ppt/tags/tag106_tf1.xml" ContentType="application/vnd.openxmlformats-officedocument.presentationml.tags+xml"/>
  <ns0:Override PartName="/ppt/tags/tag105_tf1.xml" ContentType="application/vnd.openxmlformats-officedocument.presentationml.tags+xml"/>
  <ns0:Override PartName="/ppt/tags/tag104_tf1.xml" ContentType="application/vnd.openxmlformats-officedocument.presentationml.tags+xml"/>
  <ns0:Override PartName="/ppt/tags/tag114_tf1.xml" ContentType="application/vnd.openxmlformats-officedocument.presentationml.tags+xml"/>
  <ns0:Override PartName="/ppt/tags/tag113_tf1.xml" ContentType="application/vnd.openxmlformats-officedocument.presentationml.tags+xml"/>
  <ns0:Override PartName="/ppt/tags/tag112_tf1.xml" ContentType="application/vnd.openxmlformats-officedocument.presentationml.tags+xml"/>
  <ns0:Override PartName="/ppt/tags/tag103_tf1.xml" ContentType="application/vnd.openxmlformats-officedocument.presentationml.tags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notesSlides/notesSlide27.xml" ContentType="application/vnd.openxmlformats-officedocument.presentationml.notesSlide+xml"/>
  <ns0:Override PartName="/ppt/tags/tag123_tf1.xml" ContentType="application/vnd.openxmlformats-officedocument.presentationml.tags+xml"/>
  <ns0:Override PartName="/ppt/tags/tag122_tf1.xml" ContentType="application/vnd.openxmlformats-officedocument.presentationml.tags+xml"/>
  <ns0:Override PartName="/ppt/tags/tag121_tf1.xml" ContentType="application/vnd.openxmlformats-officedocument.presentationml.tags+xml"/>
  <ns0:Override PartName="/ppt/tags/tag120_tf1.xml" ContentType="application/vnd.openxmlformats-officedocument.presentationml.tags+xml"/>
  <ns0:Override PartName="/ppt/tags/tag119_tf1.xml" ContentType="application/vnd.openxmlformats-officedocument.presentationml.tags+xml"/>
  <ns0:Override PartName="/ppt/tags/tag118_tf1.xml" ContentType="application/vnd.openxmlformats-officedocument.presentationml.tags+xml"/>
  <ns0:Override PartName="/ppt/tags/tag117_tf1.xml" ContentType="application/vnd.openxmlformats-officedocument.presentationml.tags+xml"/>
  <ns0:Override PartName="/ppt/tags/tag116_tf1.xml" ContentType="application/vnd.openxmlformats-officedocument.presentationml.tags+xml"/>
  <ns0:Override PartName="/ppt/tags/tag129_tf1.xml" ContentType="application/vnd.openxmlformats-officedocument.presentationml.tags+xml"/>
  <ns0:Override PartName="/ppt/tags/tag128_tf1.xml" ContentType="application/vnd.openxmlformats-officedocument.presentationml.tags+xml"/>
  <ns0:Override PartName="/ppt/tags/tag127_tf1.xml" ContentType="application/vnd.openxmlformats-officedocument.presentationml.tags+xml"/>
  <ns0:Override PartName="/ppt/tags/tag126_tf1.xml" ContentType="application/vnd.openxmlformats-officedocument.presentationml.tags+xml"/>
  <ns0:Override PartName="/ppt/tags/tag125_tf1.xml" ContentType="application/vnd.openxmlformats-officedocument.presentationml.tags+xml"/>
  <ns0:Override PartName="/ppt/tags/tag124_tf1.xml" ContentType="application/vnd.openxmlformats-officedocument.presentationml.tags+xml"/>
  <ns0:Override PartName="/ppt/tags/tag115_tf1.xml" ContentType="application/vnd.openxmlformats-officedocument.presentationml.tags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tags/tag138_tf1.xml" ContentType="application/vnd.openxmlformats-officedocument.presentationml.tags+xml"/>
  <ns0:Override PartName="/ppt/tags/tag137_tf1.xml" ContentType="application/vnd.openxmlformats-officedocument.presentationml.tags+xml"/>
  <ns0:Override PartName="/ppt/tags/tag136_tf1.xml" ContentType="application/vnd.openxmlformats-officedocument.presentationml.tags+xml"/>
  <ns0:Override PartName="/ppt/tags/tag135_tf1.xml" ContentType="application/vnd.openxmlformats-officedocument.presentationml.tags+xml"/>
  <ns0:Override PartName="/ppt/tags/tag134_tf1.xml" ContentType="application/vnd.openxmlformats-officedocument.presentationml.tags+xml"/>
  <ns0:Override PartName="/ppt/tags/tag133_tf1.xml" ContentType="application/vnd.openxmlformats-officedocument.presentationml.tags+xml"/>
  <ns0:Override PartName="/ppt/tags/tag132_tf1.xml" ContentType="application/vnd.openxmlformats-officedocument.presentationml.tags+xml"/>
  <ns0:Override PartName="/ppt/tags/tag153_tf1.xml" ContentType="application/vnd.openxmlformats-officedocument.presentationml.tags+xml"/>
  <ns0:Override PartName="/ppt/tags/tag152_tf1.xml" ContentType="application/vnd.openxmlformats-officedocument.presentationml.tags+xml"/>
  <ns0:Override PartName="/ppt/tags/tag151_tf1.xml" ContentType="application/vnd.openxmlformats-officedocument.presentationml.tags+xml"/>
  <ns0:Override PartName="/ppt/tags/tag150_tf1.xml" ContentType="application/vnd.openxmlformats-officedocument.presentationml.tags+xml"/>
  <ns0:Override PartName="/ppt/tags/tag149_tf1.xml" ContentType="application/vnd.openxmlformats-officedocument.presentationml.tags+xml"/>
  <ns0:Override PartName="/ppt/tags/tag131_tf1.xml" ContentType="application/vnd.openxmlformats-officedocument.presentationml.tags+xml"/>
  <ns0:Override PartName="/ppt/tags/tag148_tf1.xml" ContentType="application/vnd.openxmlformats-officedocument.presentationml.tags+xml"/>
  <ns0:Override PartName="/ppt/tags/tag147_tf1.xml" ContentType="application/vnd.openxmlformats-officedocument.presentationml.tags+xml"/>
  <ns0:Override PartName="/ppt/tags/tag146_tf1.xml" ContentType="application/vnd.openxmlformats-officedocument.presentationml.tags+xml"/>
  <ns0:Override PartName="/ppt/tags/tag145_tf1.xml" ContentType="application/vnd.openxmlformats-officedocument.presentationml.tags+xml"/>
  <ns0:Override PartName="/ppt/tags/tag144_tf1.xml" ContentType="application/vnd.openxmlformats-officedocument.presentationml.tags+xml"/>
  <ns0:Override PartName="/ppt/tags/tag143_tf1.xml" ContentType="application/vnd.openxmlformats-officedocument.presentationml.tags+xml"/>
  <ns0:Override PartName="/ppt/tags/tag142_tf1.xml" ContentType="application/vnd.openxmlformats-officedocument.presentationml.tags+xml"/>
  <ns0:Override PartName="/ppt/tags/tag141_tf1.xml" ContentType="application/vnd.openxmlformats-officedocument.presentationml.tags+xml"/>
  <ns0:Override PartName="/ppt/tags/tag140_tf1.xml" ContentType="application/vnd.openxmlformats-officedocument.presentationml.tags+xml"/>
  <ns0:Override PartName="/ppt/tags/tag139_tf1.xml" ContentType="application/vnd.openxmlformats-officedocument.presentationml.tags+xml"/>
  <ns0:Override PartName="/ppt/tags/tag130_tf1.xml" ContentType="application/vnd.openxmlformats-officedocument.presentationml.tags+xml"/>
  <ns0:Override PartName="/ppt/slides/slide33.xml" ContentType="application/vnd.openxmlformats-officedocument.presentationml.slide+xml"/>
  <ns0:Override PartName="/ppt/tags/tag162_tf1.xml" ContentType="application/vnd.openxmlformats-officedocument.presentationml.tags+xml"/>
  <ns0:Override PartName="/ppt/tags/tag161_tf1.xml" ContentType="application/vnd.openxmlformats-officedocument.presentationml.tags+xml"/>
  <ns0:Override PartName="/ppt/tags/tag160_tf1.xml" ContentType="application/vnd.openxmlformats-officedocument.presentationml.tags+xml"/>
  <ns0:Override PartName="/ppt/tags/tag159_tf1.xml" ContentType="application/vnd.openxmlformats-officedocument.presentationml.tags+xml"/>
  <ns0:Override PartName="/ppt/tags/tag158_tf1.xml" ContentType="application/vnd.openxmlformats-officedocument.presentationml.tags+xml"/>
  <ns0:Override PartName="/ppt/tags/tag157_tf1.xml" ContentType="application/vnd.openxmlformats-officedocument.presentationml.tags+xml"/>
  <ns0:Override PartName="/ppt/tags/tag156_tf1.xml" ContentType="application/vnd.openxmlformats-officedocument.presentationml.tags+xml"/>
  <ns0:Override PartName="/ppt/tags/tag177_tf1.xml" ContentType="application/vnd.openxmlformats-officedocument.presentationml.tags+xml"/>
  <ns0:Override PartName="/ppt/tags/tag176_tf1.xml" ContentType="application/vnd.openxmlformats-officedocument.presentationml.tags+xml"/>
  <ns0:Override PartName="/ppt/tags/tag175_tf1.xml" ContentType="application/vnd.openxmlformats-officedocument.presentationml.tags+xml"/>
  <ns0:Override PartName="/ppt/tags/tag174_tf1.xml" ContentType="application/vnd.openxmlformats-officedocument.presentationml.tags+xml"/>
  <ns0:Override PartName="/ppt/tags/tag173_tf1.xml" ContentType="application/vnd.openxmlformats-officedocument.presentationml.tags+xml"/>
  <ns0:Override PartName="/ppt/tags/tag155_tf1.xml" ContentType="application/vnd.openxmlformats-officedocument.presentationml.tags+xml"/>
  <ns0:Override PartName="/ppt/tags/tag172_tf1.xml" ContentType="application/vnd.openxmlformats-officedocument.presentationml.tags+xml"/>
  <ns0:Override PartName="/ppt/tags/tag171_tf1.xml" ContentType="application/vnd.openxmlformats-officedocument.presentationml.tags+xml"/>
  <ns0:Override PartName="/ppt/tags/tag170_tf1.xml" ContentType="application/vnd.openxmlformats-officedocument.presentationml.tags+xml"/>
  <ns0:Override PartName="/ppt/tags/tag169_tf1.xml" ContentType="application/vnd.openxmlformats-officedocument.presentationml.tags+xml"/>
  <ns0:Override PartName="/ppt/tags/tag168_tf1.xml" ContentType="application/vnd.openxmlformats-officedocument.presentationml.tags+xml"/>
  <ns0:Override PartName="/ppt/tags/tag167_tf1.xml" ContentType="application/vnd.openxmlformats-officedocument.presentationml.tags+xml"/>
  <ns0:Override PartName="/ppt/tags/tag166_tf1.xml" ContentType="application/vnd.openxmlformats-officedocument.presentationml.tags+xml"/>
  <ns0:Override PartName="/ppt/tags/tag165_tf1.xml" ContentType="application/vnd.openxmlformats-officedocument.presentationml.tags+xml"/>
  <ns0:Override PartName="/ppt/tags/tag164_tf1.xml" ContentType="application/vnd.openxmlformats-officedocument.presentationml.tags+xml"/>
  <ns0:Override PartName="/ppt/tags/tag163_tf1.xml" ContentType="application/vnd.openxmlformats-officedocument.presentationml.tags+xml"/>
  <ns0:Override PartName="/ppt/tags/tag154_tf1.xml" ContentType="application/vnd.openxmlformats-officedocument.presentationml.tags+xml"/>
  <ns0:Override PartName="/ppt/slides/slide34.xml" ContentType="application/vnd.openxmlformats-officedocument.presentationml.slide+xml"/>
  <ns0:Override PartName="/ppt/tags/tag186_tf1.xml" ContentType="application/vnd.openxmlformats-officedocument.presentationml.tags+xml"/>
  <ns0:Override PartName="/ppt/tags/tag185_tf1.xml" ContentType="application/vnd.openxmlformats-officedocument.presentationml.tags+xml"/>
  <ns0:Override PartName="/ppt/tags/tag184_tf1.xml" ContentType="application/vnd.openxmlformats-officedocument.presentationml.tags+xml"/>
  <ns0:Override PartName="/ppt/tags/tag183_tf1.xml" ContentType="application/vnd.openxmlformats-officedocument.presentationml.tags+xml"/>
  <ns0:Override PartName="/ppt/tags/tag182_tf1.xml" ContentType="application/vnd.openxmlformats-officedocument.presentationml.tags+xml"/>
  <ns0:Override PartName="/ppt/tags/tag181_tf1.xml" ContentType="application/vnd.openxmlformats-officedocument.presentationml.tags+xml"/>
  <ns0:Override PartName="/ppt/tags/tag180_tf1.xml" ContentType="application/vnd.openxmlformats-officedocument.presentationml.tags+xml"/>
  <ns0:Override PartName="/ppt/tags/tag199_tf1.xml" ContentType="application/vnd.openxmlformats-officedocument.presentationml.tags+xml"/>
  <ns0:Override PartName="/ppt/tags/tag198_tf1.xml" ContentType="application/vnd.openxmlformats-officedocument.presentationml.tags+xml"/>
  <ns0:Override PartName="/ppt/tags/tag197_tf1.xml" ContentType="application/vnd.openxmlformats-officedocument.presentationml.tags+xml"/>
  <ns0:Override PartName="/ppt/tags/tag179_tf1.xml" ContentType="application/vnd.openxmlformats-officedocument.presentationml.tags+xml"/>
  <ns0:Override PartName="/ppt/tags/tag196_tf1.xml" ContentType="application/vnd.openxmlformats-officedocument.presentationml.tags+xml"/>
  <ns0:Override PartName="/ppt/tags/tag195_tf1.xml" ContentType="application/vnd.openxmlformats-officedocument.presentationml.tags+xml"/>
  <ns0:Override PartName="/ppt/tags/tag194_tf1.xml" ContentType="application/vnd.openxmlformats-officedocument.presentationml.tags+xml"/>
  <ns0:Override PartName="/ppt/tags/tag193_tf1.xml" ContentType="application/vnd.openxmlformats-officedocument.presentationml.tags+xml"/>
  <ns0:Override PartName="/ppt/tags/tag192_tf1.xml" ContentType="application/vnd.openxmlformats-officedocument.presentationml.tags+xml"/>
  <ns0:Override PartName="/ppt/tags/tag191_tf1.xml" ContentType="application/vnd.openxmlformats-officedocument.presentationml.tags+xml"/>
  <ns0:Override PartName="/ppt/tags/tag190_tf1.xml" ContentType="application/vnd.openxmlformats-officedocument.presentationml.tags+xml"/>
  <ns0:Override PartName="/ppt/tags/tag189_tf1.xml" ContentType="application/vnd.openxmlformats-officedocument.presentationml.tags+xml"/>
  <ns0:Override PartName="/ppt/tags/tag188_tf1.xml" ContentType="application/vnd.openxmlformats-officedocument.presentationml.tags+xml"/>
  <ns0:Override PartName="/ppt/tags/tag187_tf1.xml" ContentType="application/vnd.openxmlformats-officedocument.presentationml.tags+xml"/>
  <ns0:Override PartName="/ppt/tags/tag178_tf1.xml" ContentType="application/vnd.openxmlformats-officedocument.presentationml.tags+xml"/>
  <ns0:Override PartName="/ppt/slides/slide35.xml" ContentType="application/vnd.openxmlformats-officedocument.presentationml.slide+xml"/>
  <ns0:Override PartName="/ppt/tags/tag208_tf1.xml" ContentType="application/vnd.openxmlformats-officedocument.presentationml.tags+xml"/>
  <ns0:Override PartName="/ppt/tags/tag207_tf1.xml" ContentType="application/vnd.openxmlformats-officedocument.presentationml.tags+xml"/>
  <ns0:Override PartName="/ppt/tags/tag206_tf1.xml" ContentType="application/vnd.openxmlformats-officedocument.presentationml.tags+xml"/>
  <ns0:Override PartName="/ppt/tags/tag205_tf1.xml" ContentType="application/vnd.openxmlformats-officedocument.presentationml.tags+xml"/>
  <ns0:Override PartName="/ppt/tags/tag204_tf1.xml" ContentType="application/vnd.openxmlformats-officedocument.presentationml.tags+xml"/>
  <ns0:Override PartName="/ppt/tags/tag203_tf1.xml" ContentType="application/vnd.openxmlformats-officedocument.presentationml.tags+xml"/>
  <ns0:Override PartName="/ppt/tags/tag202_tf1.xml" ContentType="application/vnd.openxmlformats-officedocument.presentationml.tags+xml"/>
  <ns0:Override PartName="/ppt/tags/tag220_tf1.xml" ContentType="application/vnd.openxmlformats-officedocument.presentationml.tags+xml"/>
  <ns0:Override PartName="/ppt/tags/tag219_tf1.xml" ContentType="application/vnd.openxmlformats-officedocument.presentationml.tags+xml"/>
  <ns0:Override PartName="/ppt/tags/tag201_tf1.xml" ContentType="application/vnd.openxmlformats-officedocument.presentationml.tags+xml"/>
  <ns0:Override PartName="/ppt/tags/tag218_tf1.xml" ContentType="application/vnd.openxmlformats-officedocument.presentationml.tags+xml"/>
  <ns0:Override PartName="/ppt/tags/tag217_tf1.xml" ContentType="application/vnd.openxmlformats-officedocument.presentationml.tags+xml"/>
  <ns0:Override PartName="/ppt/tags/tag216_tf1.xml" ContentType="application/vnd.openxmlformats-officedocument.presentationml.tags+xml"/>
  <ns0:Override PartName="/ppt/tags/tag215_tf1.xml" ContentType="application/vnd.openxmlformats-officedocument.presentationml.tags+xml"/>
  <ns0:Override PartName="/ppt/tags/tag214_tf1.xml" ContentType="application/vnd.openxmlformats-officedocument.presentationml.tags+xml"/>
  <ns0:Override PartName="/ppt/tags/tag213_tf1.xml" ContentType="application/vnd.openxmlformats-officedocument.presentationml.tags+xml"/>
  <ns0:Override PartName="/ppt/tags/tag212_tf1.xml" ContentType="application/vnd.openxmlformats-officedocument.presentationml.tags+xml"/>
  <ns0:Override PartName="/ppt/tags/tag211_tf1.xml" ContentType="application/vnd.openxmlformats-officedocument.presentationml.tags+xml"/>
  <ns0:Override PartName="/ppt/tags/tag210_tf1.xml" ContentType="application/vnd.openxmlformats-officedocument.presentationml.tags+xml"/>
  <ns0:Override PartName="/ppt/tags/tag209_tf1.xml" ContentType="application/vnd.openxmlformats-officedocument.presentationml.tags+xml"/>
  <ns0:Override PartName="/ppt/tags/tag200_tf1.xml" ContentType="application/vnd.openxmlformats-officedocument.presentationml.tags+xml"/>
  <ns0:Override PartName="/ppt/slides/slide36.xml" ContentType="application/vnd.openxmlformats-officedocument.presentationml.slide+xml"/>
  <ns0:Override PartName="/ppt/slides/slide37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2856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5" Type="http://schemas.openxmlformats.org/officeDocument/2006/relationships/notesMaster" Target="notesMasters/notesMaster1.xml" /><Relationship Id="rId3" Type="http://schemas.openxmlformats.org/officeDocument/2006/relationships/slideMaster" Target="slideMasters/slideMaster2.xml" /><Relationship Id="rId25" Type="http://schemas.openxmlformats.org/officeDocument/2006/relationships/tableStyles" Target="tableStyles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2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6" Type="http://schemas.openxmlformats.org/officeDocument/2006/relationships/slide" Target="slides/slide19.xml" /><Relationship Id="rId27" Type="http://schemas.openxmlformats.org/officeDocument/2006/relationships/slide" Target="slides/slide20.xml" /><Relationship Id="rId28" Type="http://schemas.openxmlformats.org/officeDocument/2006/relationships/slide" Target="slides/slide21.xml" /><Relationship Id="rId29" Type="http://schemas.openxmlformats.org/officeDocument/2006/relationships/slide" Target="slides/slide22.xml" /><Relationship Id="rId30" Type="http://schemas.openxmlformats.org/officeDocument/2006/relationships/slide" Target="slides/slide23.xml" /><Relationship Id="rId31" Type="http://schemas.openxmlformats.org/officeDocument/2006/relationships/slide" Target="slides/slide24.xml" /><Relationship Id="rId32" Type="http://schemas.openxmlformats.org/officeDocument/2006/relationships/slide" Target="slides/slide25.xml" /><Relationship Id="rId33" Type="http://schemas.openxmlformats.org/officeDocument/2006/relationships/slide" Target="slides/slide26.xml" /><Relationship Id="rId34" Type="http://schemas.openxmlformats.org/officeDocument/2006/relationships/slide" Target="slides/slide27.xml" /><Relationship Id="rId35" Type="http://schemas.openxmlformats.org/officeDocument/2006/relationships/slide" Target="slides/slide28.xml" /><Relationship Id="rId36" Type="http://schemas.openxmlformats.org/officeDocument/2006/relationships/slide" Target="slides/slide29.xml" /><Relationship Id="rId37" Type="http://schemas.openxmlformats.org/officeDocument/2006/relationships/slide" Target="slides/slide30.xml" /><Relationship Id="rId38" Type="http://schemas.openxmlformats.org/officeDocument/2006/relationships/slide" Target="slides/slide31.xml" /><Relationship Id="rId39" Type="http://schemas.openxmlformats.org/officeDocument/2006/relationships/slide" Target="slides/slide32.xml" /><Relationship Id="rId40" Type="http://schemas.openxmlformats.org/officeDocument/2006/relationships/slide" Target="slides/slide33.xml" /><Relationship Id="rId41" Type="http://schemas.openxmlformats.org/officeDocument/2006/relationships/slide" Target="slides/slide34.xml" /><Relationship Id="rId42" Type="http://schemas.openxmlformats.org/officeDocument/2006/relationships/slide" Target="slides/slide35.xml" /><Relationship Id="rId43" Type="http://schemas.openxmlformats.org/officeDocument/2006/relationships/slide" Target="slides/slide36.xml" /><Relationship Id="rId44" Type="http://schemas.openxmlformats.org/officeDocument/2006/relationships/slide" Target="slides/slide37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?????????????????????????????????????????????? vLLM KV connector?prefix cache ????? FlexKV?LMCache?Mooncake ???????????????? vLLM V1 connector ? GPU?CPU?SSD ????????????????????? connector ????????????? block ??????????????????????????????????????????????????????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84"/>
            <a:ext cx="9799200" cy="257063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729"/>
            <a:ext cx="9799200" cy="1472536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1295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C06F3C0C-27E9-6440-A28B-0D19F68C4EB6}" type="datetime1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537"/>
            <a:ext cx="10969200" cy="4759639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6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8F4B64D5-88C6-1042-AF6E-817503A9878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7"/>
          <p:cNvCxnSpPr/>
          <p:nvPr userDrawn="1"/>
        </p:nvCxnSpPr>
        <p:spPr>
          <a:xfrm>
            <a:off x="608400" y="1314121"/>
            <a:ext cx="109692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756"/>
            <a:ext cx="7768800" cy="76687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626"/>
            <a:ext cx="7768800" cy="86768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2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69BA2CC-44EF-194D-B740-00323B06706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339"/>
            <a:ext cx="5176800" cy="4748838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339"/>
            <a:ext cx="5176800" cy="4748838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2365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599565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16A6C3BE-B9EF-4943-BF05-4524F086AA5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332"/>
            <a:ext cx="5342400" cy="381636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171"/>
            <a:ext cx="5342400" cy="4396006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1" y="1421860"/>
            <a:ext cx="5342400" cy="38163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1" y="1854171"/>
            <a:ext cx="5342400" cy="4396006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8C5F02AB-3A3A-F948-8E93-9C71586A198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9830AC9-08F5-2C46-A8D8-B9DDA3C89C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99F6EA0-89DF-A641-B1D8-1D4C67A7E21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1" y="1555259"/>
            <a:ext cx="5233035" cy="4608621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344"/>
            <a:ext cx="5227200" cy="4608426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39E2CEEF-6EC9-604E-AC92-7BBD12A9A9A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84"/>
            <a:ext cx="1044000" cy="5029665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84"/>
            <a:ext cx="9169200" cy="5029665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2365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599565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6765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B5F25C1-7806-214B-A884-4C8D02DC59D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2096C965-9207-7448-AA7A-40197FFBA87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71"/>
            <a:ext cx="10972800" cy="5483306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2365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599565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6765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4529FB7-9B89-564D-8AB3-F4AA004866E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229"/>
            <a:ext cx="9799200" cy="101889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729"/>
            <a:ext cx="9799200" cy="47164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56"/>
            <a:ext cx="10969200" cy="70566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537"/>
            <a:ext cx="10969200" cy="475963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983"/>
            <a:ext cx="2700000" cy="316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834432E-4B8E-9C47-8434-4A94AA92591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983"/>
            <a:ext cx="3960000" cy="316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983"/>
            <a:ext cx="2700000" cy="316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3765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376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8455" algn="l"/>
          <a:tab pos="1608455" algn="l"/>
          <a:tab pos="1608455" algn="l"/>
          <a:tab pos="160845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236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59956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676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26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8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3.xml" /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slides/_rels/slide20.xml.rels><?xml version='1.0' encoding='utf-8'?>
<Relationships xmlns="http://schemas.openxmlformats.org/package/2006/relationships"><Relationship Id="rId9" Type="http://schemas.openxmlformats.org/officeDocument/2006/relationships/tags" Target="../tags/tag71_tf1.xml" /><Relationship Id="rId8" Type="http://schemas.openxmlformats.org/officeDocument/2006/relationships/tags" Target="../tags/tag70_tf1.xml" /><Relationship Id="rId7" Type="http://schemas.openxmlformats.org/officeDocument/2006/relationships/tags" Target="../tags/tag69_tf1.xml" /><Relationship Id="rId6" Type="http://schemas.openxmlformats.org/officeDocument/2006/relationships/tags" Target="../tags/tag68_tf1.xml" /><Relationship Id="rId5" Type="http://schemas.openxmlformats.org/officeDocument/2006/relationships/tags" Target="../tags/tag67_tf1.xml" /><Relationship Id="rId4" Type="http://schemas.openxmlformats.org/officeDocument/2006/relationships/tags" Target="../tags/tag66_tf1.xml" /><Relationship Id="rId3" Type="http://schemas.openxmlformats.org/officeDocument/2006/relationships/tags" Target="../tags/tag65_tf1.xml" /><Relationship Id="rId21" Type="http://schemas.openxmlformats.org/officeDocument/2006/relationships/slideLayout" Target="../slideLayouts/slideLayout1.xml" /><Relationship Id="rId20" Type="http://schemas.openxmlformats.org/officeDocument/2006/relationships/tags" Target="../tags/tag82_tf1.xml" /><Relationship Id="rId2" Type="http://schemas.openxmlformats.org/officeDocument/2006/relationships/tags" Target="../tags/tag64_tf1.xml" /><Relationship Id="rId19" Type="http://schemas.openxmlformats.org/officeDocument/2006/relationships/tags" Target="../tags/tag81_tf1.xml" /><Relationship Id="rId18" Type="http://schemas.openxmlformats.org/officeDocument/2006/relationships/tags" Target="../tags/tag80_tf1.xml" /><Relationship Id="rId17" Type="http://schemas.openxmlformats.org/officeDocument/2006/relationships/tags" Target="../tags/tag79_tf1.xml" /><Relationship Id="rId16" Type="http://schemas.openxmlformats.org/officeDocument/2006/relationships/tags" Target="../tags/tag78_tf1.xml" /><Relationship Id="rId15" Type="http://schemas.openxmlformats.org/officeDocument/2006/relationships/tags" Target="../tags/tag77_tf1.xml" /><Relationship Id="rId14" Type="http://schemas.openxmlformats.org/officeDocument/2006/relationships/tags" Target="../tags/tag76_tf1.xml" /><Relationship Id="rId13" Type="http://schemas.openxmlformats.org/officeDocument/2006/relationships/tags" Target="../tags/tag75_tf1.xml" /><Relationship Id="rId12" Type="http://schemas.openxmlformats.org/officeDocument/2006/relationships/tags" Target="../tags/tag74_tf1.xml" /><Relationship Id="rId11" Type="http://schemas.openxmlformats.org/officeDocument/2006/relationships/tags" Target="../tags/tag73_tf1.xml" /><Relationship Id="rId10" Type="http://schemas.openxmlformats.org/officeDocument/2006/relationships/tags" Target="../tags/tag72_tf1.xml" /><Relationship Id="rId1" Type="http://schemas.openxmlformats.org/officeDocument/2006/relationships/tags" Target="../tags/tag63_tf1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.xml.rels><?xml version='1.0' encoding='utf-8'?>
<Relationships xmlns="http://schemas.openxmlformats.org/package/2006/relationships"><Relationship Id="rId9" Type="http://schemas.openxmlformats.org/officeDocument/2006/relationships/tags" Target="../tags/tag91_tf1.xml" /><Relationship Id="rId8" Type="http://schemas.openxmlformats.org/officeDocument/2006/relationships/tags" Target="../tags/tag90_tf1.xml" /><Relationship Id="rId7" Type="http://schemas.openxmlformats.org/officeDocument/2006/relationships/tags" Target="../tags/tag89_tf1.xml" /><Relationship Id="rId6" Type="http://schemas.openxmlformats.org/officeDocument/2006/relationships/tags" Target="../tags/tag88_tf1.xml" /><Relationship Id="rId5" Type="http://schemas.openxmlformats.org/officeDocument/2006/relationships/tags" Target="../tags/tag87_tf1.xml" /><Relationship Id="rId4" Type="http://schemas.openxmlformats.org/officeDocument/2006/relationships/tags" Target="../tags/tag86_tf1.xml" /><Relationship Id="rId3" Type="http://schemas.openxmlformats.org/officeDocument/2006/relationships/tags" Target="../tags/tag85_tf1.xml" /><Relationship Id="rId21" Type="http://schemas.openxmlformats.org/officeDocument/2006/relationships/slideLayout" Target="../slideLayouts/slideLayout1.xml" /><Relationship Id="rId20" Type="http://schemas.openxmlformats.org/officeDocument/2006/relationships/tags" Target="../tags/tag102_tf1.xml" /><Relationship Id="rId2" Type="http://schemas.openxmlformats.org/officeDocument/2006/relationships/tags" Target="../tags/tag84_tf1.xml" /><Relationship Id="rId19" Type="http://schemas.openxmlformats.org/officeDocument/2006/relationships/tags" Target="../tags/tag101_tf1.xml" /><Relationship Id="rId18" Type="http://schemas.openxmlformats.org/officeDocument/2006/relationships/tags" Target="../tags/tag100_tf1.xml" /><Relationship Id="rId17" Type="http://schemas.openxmlformats.org/officeDocument/2006/relationships/tags" Target="../tags/tag99_tf1.xml" /><Relationship Id="rId16" Type="http://schemas.openxmlformats.org/officeDocument/2006/relationships/tags" Target="../tags/tag98_tf1.xml" /><Relationship Id="rId15" Type="http://schemas.openxmlformats.org/officeDocument/2006/relationships/tags" Target="../tags/tag97_tf1.xml" /><Relationship Id="rId14" Type="http://schemas.openxmlformats.org/officeDocument/2006/relationships/tags" Target="../tags/tag96_tf1.xml" /><Relationship Id="rId13" Type="http://schemas.openxmlformats.org/officeDocument/2006/relationships/tags" Target="../tags/tag95_tf1.xml" /><Relationship Id="rId12" Type="http://schemas.openxmlformats.org/officeDocument/2006/relationships/tags" Target="../tags/tag94_tf1.xml" /><Relationship Id="rId11" Type="http://schemas.openxmlformats.org/officeDocument/2006/relationships/tags" Target="../tags/tag93_tf1.xml" /><Relationship Id="rId10" Type="http://schemas.openxmlformats.org/officeDocument/2006/relationships/tags" Target="../tags/tag92_tf1.xml" /><Relationship Id="rId1" Type="http://schemas.openxmlformats.org/officeDocument/2006/relationships/tags" Target="../tags/tag83_tf1.xml" /></Relationships>
</file>

<file path=ppt/slides/_rels/slide23.xml.rels><?xml version='1.0' encoding='utf-8'?>
<Relationships xmlns="http://schemas.openxmlformats.org/package/2006/relationships"><Relationship Id="rId9" Type="http://schemas.openxmlformats.org/officeDocument/2006/relationships/tags" Target="../tags/tag111_tf1.xml" /><Relationship Id="rId8" Type="http://schemas.openxmlformats.org/officeDocument/2006/relationships/tags" Target="../tags/tag110_tf1.xml" /><Relationship Id="rId7" Type="http://schemas.openxmlformats.org/officeDocument/2006/relationships/tags" Target="../tags/tag109_tf1.xml" /><Relationship Id="rId6" Type="http://schemas.openxmlformats.org/officeDocument/2006/relationships/tags" Target="../tags/tag108_tf1.xml" /><Relationship Id="rId5" Type="http://schemas.openxmlformats.org/officeDocument/2006/relationships/tags" Target="../tags/tag107_tf1.xml" /><Relationship Id="rId4" Type="http://schemas.openxmlformats.org/officeDocument/2006/relationships/tags" Target="../tags/tag106_tf1.xml" /><Relationship Id="rId3" Type="http://schemas.openxmlformats.org/officeDocument/2006/relationships/tags" Target="../tags/tag105_tf1.xml" /><Relationship Id="rId2" Type="http://schemas.openxmlformats.org/officeDocument/2006/relationships/tags" Target="../tags/tag104_tf1.xml" /><Relationship Id="rId13" Type="http://schemas.openxmlformats.org/officeDocument/2006/relationships/slideLayout" Target="../slideLayouts/slideLayout1.xml" /><Relationship Id="rId12" Type="http://schemas.openxmlformats.org/officeDocument/2006/relationships/tags" Target="../tags/tag114_tf1.xml" /><Relationship Id="rId11" Type="http://schemas.openxmlformats.org/officeDocument/2006/relationships/tags" Target="../tags/tag113_tf1.xml" /><Relationship Id="rId10" Type="http://schemas.openxmlformats.org/officeDocument/2006/relationships/tags" Target="../tags/tag112_tf1.xml" /><Relationship Id="rId1" Type="http://schemas.openxmlformats.org/officeDocument/2006/relationships/tags" Target="../tags/tag103_tf1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<Relationship Id="rId9" Type="http://schemas.openxmlformats.org/officeDocument/2006/relationships/tags" Target="../tags/tag123_tf1.xml" /><Relationship Id="rId8" Type="http://schemas.openxmlformats.org/officeDocument/2006/relationships/tags" Target="../tags/tag122_tf1.xml" /><Relationship Id="rId7" Type="http://schemas.openxmlformats.org/officeDocument/2006/relationships/tags" Target="../tags/tag121_tf1.xml" /><Relationship Id="rId6" Type="http://schemas.openxmlformats.org/officeDocument/2006/relationships/tags" Target="../tags/tag120_tf1.xml" /><Relationship Id="rId5" Type="http://schemas.openxmlformats.org/officeDocument/2006/relationships/tags" Target="../tags/tag119_tf1.xml" /><Relationship Id="rId4" Type="http://schemas.openxmlformats.org/officeDocument/2006/relationships/tags" Target="../tags/tag118_tf1.xml" /><Relationship Id="rId3" Type="http://schemas.openxmlformats.org/officeDocument/2006/relationships/tags" Target="../tags/tag117_tf1.xml" /><Relationship Id="rId2" Type="http://schemas.openxmlformats.org/officeDocument/2006/relationships/tags" Target="../tags/tag116_tf1.xml" /><Relationship Id="rId16" Type="http://schemas.openxmlformats.org/officeDocument/2006/relationships/slideLayout" Target="../slideLayouts/slideLayout1.xml" /><Relationship Id="rId15" Type="http://schemas.openxmlformats.org/officeDocument/2006/relationships/tags" Target="../tags/tag129_tf1.xml" /><Relationship Id="rId14" Type="http://schemas.openxmlformats.org/officeDocument/2006/relationships/tags" Target="../tags/tag128_tf1.xml" /><Relationship Id="rId13" Type="http://schemas.openxmlformats.org/officeDocument/2006/relationships/tags" Target="../tags/tag127_tf1.xml" /><Relationship Id="rId12" Type="http://schemas.openxmlformats.org/officeDocument/2006/relationships/tags" Target="../tags/tag126_tf1.xml" /><Relationship Id="rId11" Type="http://schemas.openxmlformats.org/officeDocument/2006/relationships/tags" Target="../tags/tag125_tf1.xml" /><Relationship Id="rId10" Type="http://schemas.openxmlformats.org/officeDocument/2006/relationships/tags" Target="../tags/tag124_tf1.xml" /><Relationship Id="rId1" Type="http://schemas.openxmlformats.org/officeDocument/2006/relationships/tags" Target="../tags/tag115_tf1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3.xml.rels><?xml version='1.0' encoding='utf-8'?>
<Relationships xmlns="http://schemas.openxmlformats.org/package/2006/relationships"><Relationship Id="rId9" Type="http://schemas.openxmlformats.org/officeDocument/2006/relationships/tags" Target="../tags/tag138_tf1.xml" /><Relationship Id="rId8" Type="http://schemas.openxmlformats.org/officeDocument/2006/relationships/tags" Target="../tags/tag137_tf1.xml" /><Relationship Id="rId7" Type="http://schemas.openxmlformats.org/officeDocument/2006/relationships/tags" Target="../tags/tag136_tf1.xml" /><Relationship Id="rId6" Type="http://schemas.openxmlformats.org/officeDocument/2006/relationships/tags" Target="../tags/tag135_tf1.xml" /><Relationship Id="rId5" Type="http://schemas.openxmlformats.org/officeDocument/2006/relationships/tags" Target="../tags/tag134_tf1.xml" /><Relationship Id="rId4" Type="http://schemas.openxmlformats.org/officeDocument/2006/relationships/tags" Target="../tags/tag133_tf1.xml" /><Relationship Id="rId3" Type="http://schemas.openxmlformats.org/officeDocument/2006/relationships/tags" Target="../tags/tag132_tf1.xml" /><Relationship Id="rId25" Type="http://schemas.openxmlformats.org/officeDocument/2006/relationships/slideLayout" Target="../slideLayouts/slideLayout1.xml" /><Relationship Id="rId24" Type="http://schemas.openxmlformats.org/officeDocument/2006/relationships/tags" Target="../tags/tag153_tf1.xml" /><Relationship Id="rId23" Type="http://schemas.openxmlformats.org/officeDocument/2006/relationships/tags" Target="../tags/tag152_tf1.xml" /><Relationship Id="rId22" Type="http://schemas.openxmlformats.org/officeDocument/2006/relationships/tags" Target="../tags/tag151_tf1.xml" /><Relationship Id="rId21" Type="http://schemas.openxmlformats.org/officeDocument/2006/relationships/tags" Target="../tags/tag150_tf1.xml" /><Relationship Id="rId20" Type="http://schemas.openxmlformats.org/officeDocument/2006/relationships/tags" Target="../tags/tag149_tf1.xml" /><Relationship Id="rId2" Type="http://schemas.openxmlformats.org/officeDocument/2006/relationships/tags" Target="../tags/tag131_tf1.xml" /><Relationship Id="rId19" Type="http://schemas.openxmlformats.org/officeDocument/2006/relationships/tags" Target="../tags/tag148_tf1.xml" /><Relationship Id="rId18" Type="http://schemas.openxmlformats.org/officeDocument/2006/relationships/tags" Target="../tags/tag147_tf1.xml" /><Relationship Id="rId17" Type="http://schemas.openxmlformats.org/officeDocument/2006/relationships/tags" Target="../tags/tag146_tf1.xml" /><Relationship Id="rId16" Type="http://schemas.openxmlformats.org/officeDocument/2006/relationships/tags" Target="../tags/tag145_tf1.xml" /><Relationship Id="rId15" Type="http://schemas.openxmlformats.org/officeDocument/2006/relationships/tags" Target="../tags/tag144_tf1.xml" /><Relationship Id="rId14" Type="http://schemas.openxmlformats.org/officeDocument/2006/relationships/tags" Target="../tags/tag143_tf1.xml" /><Relationship Id="rId13" Type="http://schemas.openxmlformats.org/officeDocument/2006/relationships/tags" Target="../tags/tag142_tf1.xml" /><Relationship Id="rId12" Type="http://schemas.openxmlformats.org/officeDocument/2006/relationships/tags" Target="../tags/tag141_tf1.xml" /><Relationship Id="rId11" Type="http://schemas.openxmlformats.org/officeDocument/2006/relationships/tags" Target="../tags/tag140_tf1.xml" /><Relationship Id="rId10" Type="http://schemas.openxmlformats.org/officeDocument/2006/relationships/tags" Target="../tags/tag139_tf1.xml" /><Relationship Id="rId1" Type="http://schemas.openxmlformats.org/officeDocument/2006/relationships/tags" Target="../tags/tag130_tf1.xml" /></Relationships>
</file>

<file path=ppt/slides/_rels/slide34.xml.rels><?xml version='1.0' encoding='utf-8'?>
<Relationships xmlns="http://schemas.openxmlformats.org/package/2006/relationships"><Relationship Id="rId9" Type="http://schemas.openxmlformats.org/officeDocument/2006/relationships/tags" Target="../tags/tag162_tf1.xml" /><Relationship Id="rId8" Type="http://schemas.openxmlformats.org/officeDocument/2006/relationships/tags" Target="../tags/tag161_tf1.xml" /><Relationship Id="rId7" Type="http://schemas.openxmlformats.org/officeDocument/2006/relationships/tags" Target="../tags/tag160_tf1.xml" /><Relationship Id="rId6" Type="http://schemas.openxmlformats.org/officeDocument/2006/relationships/tags" Target="../tags/tag159_tf1.xml" /><Relationship Id="rId5" Type="http://schemas.openxmlformats.org/officeDocument/2006/relationships/tags" Target="../tags/tag158_tf1.xml" /><Relationship Id="rId4" Type="http://schemas.openxmlformats.org/officeDocument/2006/relationships/tags" Target="../tags/tag157_tf1.xml" /><Relationship Id="rId3" Type="http://schemas.openxmlformats.org/officeDocument/2006/relationships/tags" Target="../tags/tag156_tf1.xml" /><Relationship Id="rId25" Type="http://schemas.openxmlformats.org/officeDocument/2006/relationships/slideLayout" Target="../slideLayouts/slideLayout1.xml" /><Relationship Id="rId24" Type="http://schemas.openxmlformats.org/officeDocument/2006/relationships/tags" Target="../tags/tag177_tf1.xml" /><Relationship Id="rId23" Type="http://schemas.openxmlformats.org/officeDocument/2006/relationships/tags" Target="../tags/tag176_tf1.xml" /><Relationship Id="rId22" Type="http://schemas.openxmlformats.org/officeDocument/2006/relationships/tags" Target="../tags/tag175_tf1.xml" /><Relationship Id="rId21" Type="http://schemas.openxmlformats.org/officeDocument/2006/relationships/tags" Target="../tags/tag174_tf1.xml" /><Relationship Id="rId20" Type="http://schemas.openxmlformats.org/officeDocument/2006/relationships/tags" Target="../tags/tag173_tf1.xml" /><Relationship Id="rId2" Type="http://schemas.openxmlformats.org/officeDocument/2006/relationships/tags" Target="../tags/tag155_tf1.xml" /><Relationship Id="rId19" Type="http://schemas.openxmlformats.org/officeDocument/2006/relationships/tags" Target="../tags/tag172_tf1.xml" /><Relationship Id="rId18" Type="http://schemas.openxmlformats.org/officeDocument/2006/relationships/tags" Target="../tags/tag171_tf1.xml" /><Relationship Id="rId17" Type="http://schemas.openxmlformats.org/officeDocument/2006/relationships/tags" Target="../tags/tag170_tf1.xml" /><Relationship Id="rId16" Type="http://schemas.openxmlformats.org/officeDocument/2006/relationships/tags" Target="../tags/tag169_tf1.xml" /><Relationship Id="rId15" Type="http://schemas.openxmlformats.org/officeDocument/2006/relationships/tags" Target="../tags/tag168_tf1.xml" /><Relationship Id="rId14" Type="http://schemas.openxmlformats.org/officeDocument/2006/relationships/tags" Target="../tags/tag167_tf1.xml" /><Relationship Id="rId13" Type="http://schemas.openxmlformats.org/officeDocument/2006/relationships/tags" Target="../tags/tag166_tf1.xml" /><Relationship Id="rId12" Type="http://schemas.openxmlformats.org/officeDocument/2006/relationships/tags" Target="../tags/tag165_tf1.xml" /><Relationship Id="rId11" Type="http://schemas.openxmlformats.org/officeDocument/2006/relationships/tags" Target="../tags/tag164_tf1.xml" /><Relationship Id="rId10" Type="http://schemas.openxmlformats.org/officeDocument/2006/relationships/tags" Target="../tags/tag163_tf1.xml" /><Relationship Id="rId1" Type="http://schemas.openxmlformats.org/officeDocument/2006/relationships/tags" Target="../tags/tag154_tf1.xml" /></Relationships>
</file>

<file path=ppt/slides/_rels/slide35.xml.rels><?xml version='1.0' encoding='utf-8'?>
<Relationships xmlns="http://schemas.openxmlformats.org/package/2006/relationships"><Relationship Id="rId9" Type="http://schemas.openxmlformats.org/officeDocument/2006/relationships/tags" Target="../tags/tag186_tf1.xml" /><Relationship Id="rId8" Type="http://schemas.openxmlformats.org/officeDocument/2006/relationships/tags" Target="../tags/tag185_tf1.xml" /><Relationship Id="rId7" Type="http://schemas.openxmlformats.org/officeDocument/2006/relationships/tags" Target="../tags/tag184_tf1.xml" /><Relationship Id="rId6" Type="http://schemas.openxmlformats.org/officeDocument/2006/relationships/tags" Target="../tags/tag183_tf1.xml" /><Relationship Id="rId5" Type="http://schemas.openxmlformats.org/officeDocument/2006/relationships/tags" Target="../tags/tag182_tf1.xml" /><Relationship Id="rId4" Type="http://schemas.openxmlformats.org/officeDocument/2006/relationships/tags" Target="../tags/tag181_tf1.xml" /><Relationship Id="rId3" Type="http://schemas.openxmlformats.org/officeDocument/2006/relationships/tags" Target="../tags/tag180_tf1.xml" /><Relationship Id="rId23" Type="http://schemas.openxmlformats.org/officeDocument/2006/relationships/slideLayout" Target="../slideLayouts/slideLayout1.xml" /><Relationship Id="rId22" Type="http://schemas.openxmlformats.org/officeDocument/2006/relationships/tags" Target="../tags/tag199_tf1.xml" /><Relationship Id="rId21" Type="http://schemas.openxmlformats.org/officeDocument/2006/relationships/tags" Target="../tags/tag198_tf1.xml" /><Relationship Id="rId20" Type="http://schemas.openxmlformats.org/officeDocument/2006/relationships/tags" Target="../tags/tag197_tf1.xml" /><Relationship Id="rId2" Type="http://schemas.openxmlformats.org/officeDocument/2006/relationships/tags" Target="../tags/tag179_tf1.xml" /><Relationship Id="rId19" Type="http://schemas.openxmlformats.org/officeDocument/2006/relationships/tags" Target="../tags/tag196_tf1.xml" /><Relationship Id="rId18" Type="http://schemas.openxmlformats.org/officeDocument/2006/relationships/tags" Target="../tags/tag195_tf1.xml" /><Relationship Id="rId17" Type="http://schemas.openxmlformats.org/officeDocument/2006/relationships/tags" Target="../tags/tag194_tf1.xml" /><Relationship Id="rId16" Type="http://schemas.openxmlformats.org/officeDocument/2006/relationships/tags" Target="../tags/tag193_tf1.xml" /><Relationship Id="rId15" Type="http://schemas.openxmlformats.org/officeDocument/2006/relationships/tags" Target="../tags/tag192_tf1.xml" /><Relationship Id="rId14" Type="http://schemas.openxmlformats.org/officeDocument/2006/relationships/tags" Target="../tags/tag191_tf1.xml" /><Relationship Id="rId13" Type="http://schemas.openxmlformats.org/officeDocument/2006/relationships/tags" Target="../tags/tag190_tf1.xml" /><Relationship Id="rId12" Type="http://schemas.openxmlformats.org/officeDocument/2006/relationships/tags" Target="../tags/tag189_tf1.xml" /><Relationship Id="rId11" Type="http://schemas.openxmlformats.org/officeDocument/2006/relationships/tags" Target="../tags/tag188_tf1.xml" /><Relationship Id="rId10" Type="http://schemas.openxmlformats.org/officeDocument/2006/relationships/tags" Target="../tags/tag187_tf1.xml" /><Relationship Id="rId1" Type="http://schemas.openxmlformats.org/officeDocument/2006/relationships/tags" Target="../tags/tag178_tf1.xml" /></Relationships>
</file>

<file path=ppt/slides/_rels/slide36.xml.rels><?xml version='1.0' encoding='utf-8'?>
<Relationships xmlns="http://schemas.openxmlformats.org/package/2006/relationships"><Relationship Id="rId9" Type="http://schemas.openxmlformats.org/officeDocument/2006/relationships/tags" Target="../tags/tag208_tf1.xml" /><Relationship Id="rId8" Type="http://schemas.openxmlformats.org/officeDocument/2006/relationships/tags" Target="../tags/tag207_tf1.xml" /><Relationship Id="rId7" Type="http://schemas.openxmlformats.org/officeDocument/2006/relationships/tags" Target="../tags/tag206_tf1.xml" /><Relationship Id="rId6" Type="http://schemas.openxmlformats.org/officeDocument/2006/relationships/tags" Target="../tags/tag205_tf1.xml" /><Relationship Id="rId5" Type="http://schemas.openxmlformats.org/officeDocument/2006/relationships/tags" Target="../tags/tag204_tf1.xml" /><Relationship Id="rId4" Type="http://schemas.openxmlformats.org/officeDocument/2006/relationships/tags" Target="../tags/tag203_tf1.xml" /><Relationship Id="rId3" Type="http://schemas.openxmlformats.org/officeDocument/2006/relationships/tags" Target="../tags/tag202_tf1.xml" /><Relationship Id="rId22" Type="http://schemas.openxmlformats.org/officeDocument/2006/relationships/slideLayout" Target="../slideLayouts/slideLayout1.xml" /><Relationship Id="rId21" Type="http://schemas.openxmlformats.org/officeDocument/2006/relationships/tags" Target="../tags/tag220_tf1.xml" /><Relationship Id="rId20" Type="http://schemas.openxmlformats.org/officeDocument/2006/relationships/tags" Target="../tags/tag219_tf1.xml" /><Relationship Id="rId2" Type="http://schemas.openxmlformats.org/officeDocument/2006/relationships/tags" Target="../tags/tag201_tf1.xml" /><Relationship Id="rId19" Type="http://schemas.openxmlformats.org/officeDocument/2006/relationships/tags" Target="../tags/tag218_tf1.xml" /><Relationship Id="rId18" Type="http://schemas.openxmlformats.org/officeDocument/2006/relationships/tags" Target="../tags/tag217_tf1.xml" /><Relationship Id="rId17" Type="http://schemas.openxmlformats.org/officeDocument/2006/relationships/tags" Target="../tags/tag216_tf1.xml" /><Relationship Id="rId16" Type="http://schemas.openxmlformats.org/officeDocument/2006/relationships/tags" Target="../tags/tag215_tf1.xml" /><Relationship Id="rId15" Type="http://schemas.openxmlformats.org/officeDocument/2006/relationships/tags" Target="../tags/tag214_tf1.xml" /><Relationship Id="rId14" Type="http://schemas.openxmlformats.org/officeDocument/2006/relationships/tags" Target="../tags/tag213_tf1.xml" /><Relationship Id="rId13" Type="http://schemas.openxmlformats.org/officeDocument/2006/relationships/tags" Target="../tags/tag212_tf1.xml" /><Relationship Id="rId12" Type="http://schemas.openxmlformats.org/officeDocument/2006/relationships/tags" Target="../tags/tag211_tf1.xml" /><Relationship Id="rId11" Type="http://schemas.openxmlformats.org/officeDocument/2006/relationships/tags" Target="../tags/tag210_tf1.xml" /><Relationship Id="rId10" Type="http://schemas.openxmlformats.org/officeDocument/2006/relationships/tags" Target="../tags/tag209_tf1.xml" /><Relationship Id="rId1" Type="http://schemas.openxmlformats.org/officeDocument/2006/relationships/tags" Target="../tags/tag200_tf1.xml" /></Relationships>
</file>

<file path=ppt/slides/_rels/slide37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3.xml" /><Relationship Id="rId1" Type="http://schemas.openxmlformats.org/officeDocument/2006/relationships/image" Target="../media/image2.jpeg" /></Relationships>
</file>

<file path=ppt/slides/slide19.xml><?xml version="1.0" encoding="utf-8"?>
<p:sld xmlns:a="http://schemas.openxmlformats.org/drawingml/2006/main" xmlns:ns3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ns3:useLocalDpi val="0"/>
              </a:ext>
            </a:extLst>
          </a:blip>
          <a:srcRect l="-152" t="32051" r="152" b="3522"/>
          <a:stretch>
            <a:fillRect/>
          </a:stretch>
        </p:blipFill>
        <p:spPr>
          <a:xfrm>
            <a:off x="3763" y="5213518"/>
            <a:ext cx="4596465" cy="1696307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763" y="5222202"/>
            <a:ext cx="12184475" cy="1633680"/>
          </a:xfrm>
          <a:prstGeom prst="rect">
            <a:avLst/>
          </a:prstGeom>
          <a:solidFill>
            <a:srgbClr val="002060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784900" y="2117"/>
            <a:ext cx="2543509" cy="2556201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5" name="矩形 14"/>
          <p:cNvSpPr/>
          <p:nvPr/>
        </p:nvSpPr>
        <p:spPr>
          <a:xfrm>
            <a:off x="3763" y="5052670"/>
            <a:ext cx="12184475" cy="770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29557" y="2929563"/>
            <a:ext cx="10007768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面向AI推理负载的异构存储管理系统优化</a:t>
            </a:r>
            <a:r>
              <a:rPr lang="en-US" altLang="zh-CN" sz="5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altLang="en-US" sz="5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altLang="en-US" sz="5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535096" y="5222423"/>
            <a:ext cx="6796327" cy="1301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 fontAlgn="auto">
              <a:lnSpc>
                <a:spcPts val="296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方正小标宋简体" panose="03000509000000000000" charset="-122"/>
                <a:sym typeface="+mn-ea"/>
              </a:rPr>
              <a:t>汇报队伍：古法编程继承人</a:t>
            </a:r>
            <a:endParaRPr lang="zh-CN" altLang="en-US" sz="20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方正小标宋简体" panose="03000509000000000000" charset="-122"/>
            </a:endParaRPr>
          </a:p>
          <a:p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76" y="-1057"/>
            <a:ext cx="12184475" cy="4970251"/>
          </a:xfrm>
          <a:prstGeom prst="rect">
            <a:avLst/>
          </a:prstGeom>
          <a:solidFill>
            <a:schemeClr val="accent2">
              <a:lumMod val="5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5074281" y="465381"/>
            <a:ext cx="1941265" cy="1809903"/>
          </a:xfrm>
          <a:prstGeom prst="ellipse">
            <a:avLst/>
          </a:prstGeom>
        </p:spPr>
      </p:pic>
    </p:spTree>
  </p:cSld>
  <p:clrMapOvr>
    <a:masterClrMapping/>
  </p:clrMapOvr>
  <p:transition p14:dur="5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18160" y="209550"/>
            <a:ext cx="8382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目录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2" name="Group 12"/>
          <p:cNvGrpSpPr/>
          <p:nvPr>
            <p:custDataLst>
              <p:tags r:id="rId1"/>
            </p:custDataLst>
          </p:nvPr>
        </p:nvGrpSpPr>
        <p:grpSpPr>
          <a:xfrm>
            <a:off x="685800" y="1619250"/>
            <a:ext cx="10820400" cy="895350"/>
            <a:chOff x="685800" y="1619250"/>
            <a:chExt cx="10820400" cy="895350"/>
          </a:xfrm>
        </p:grpSpPr>
        <p:sp>
          <p:nvSpPr>
            <p:cNvPr id="7" name="Rectangle 7"/>
            <p:cNvSpPr/>
            <p:nvPr/>
          </p:nvSpPr>
          <p:spPr>
            <a:xfrm>
              <a:off x="685800" y="16192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8" name="Ellipse 8"/>
            <p:cNvSpPr/>
            <p:nvPr>
              <p:custDataLst>
                <p:tags r:id="rId2"/>
              </p:custDataLst>
            </p:nvPr>
          </p:nvSpPr>
          <p:spPr>
            <a:xfrm>
              <a:off x="914400" y="18573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9" name="TextBox 9"/>
            <p:cNvSpPr txBox="1"/>
            <p:nvPr>
              <p:custDataLst>
                <p:tags r:id="rId3"/>
              </p:custDataLst>
            </p:nvPr>
          </p:nvSpPr>
          <p:spPr>
            <a:xfrm>
              <a:off x="1040130" y="19812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4"/>
              </p:custDataLst>
            </p:nvPr>
          </p:nvSpPr>
          <p:spPr>
            <a:xfrm>
              <a:off x="1569720" y="17954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项目背景与赛题目标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5"/>
              </p:custDataLst>
            </p:nvPr>
          </p:nvSpPr>
          <p:spPr>
            <a:xfrm>
              <a:off x="1572768" y="21650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说明问题来源、赛题任务和本项目的切入点。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>
            <p:custDataLst>
              <p:tags r:id="rId6"/>
            </p:custDataLst>
          </p:nvPr>
        </p:nvGrpSpPr>
        <p:grpSpPr>
          <a:xfrm>
            <a:off x="685800" y="2724150"/>
            <a:ext cx="10820400" cy="895350"/>
            <a:chOff x="685800" y="2724150"/>
            <a:chExt cx="10820400" cy="895350"/>
          </a:xfrm>
        </p:grpSpPr>
        <p:sp>
          <p:nvSpPr>
            <p:cNvPr id="13" name="Rectangle 13"/>
            <p:cNvSpPr/>
            <p:nvPr/>
          </p:nvSpPr>
          <p:spPr>
            <a:xfrm>
              <a:off x="685800" y="27241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4" name="Ellipse 14"/>
            <p:cNvSpPr/>
            <p:nvPr>
              <p:custDataLst>
                <p:tags r:id="rId7"/>
              </p:custDataLst>
            </p:nvPr>
          </p:nvSpPr>
          <p:spPr>
            <a:xfrm>
              <a:off x="914400" y="29622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5" name="TextBox 15"/>
            <p:cNvSpPr txBox="1"/>
            <p:nvPr>
              <p:custDataLst>
                <p:tags r:id="rId8"/>
              </p:custDataLst>
            </p:nvPr>
          </p:nvSpPr>
          <p:spPr>
            <a:xfrm>
              <a:off x="1040130" y="30861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9"/>
              </p:custDataLst>
            </p:nvPr>
          </p:nvSpPr>
          <p:spPr>
            <a:xfrm>
              <a:off x="1569720" y="29003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系统设计与关键机制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0"/>
              </p:custDataLst>
            </p:nvPr>
          </p:nvSpPr>
          <p:spPr>
            <a:xfrm>
              <a:off x="1572768" y="3269932"/>
              <a:ext cx="58205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介绍 MiniFlexKV 的接入方式、模块分层与关键实现机制。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>
            <p:custDataLst>
              <p:tags r:id="rId11"/>
            </p:custDataLst>
          </p:nvPr>
        </p:nvGrpSpPr>
        <p:grpSpPr>
          <a:xfrm>
            <a:off x="685800" y="3829050"/>
            <a:ext cx="10820400" cy="895350"/>
            <a:chOff x="685800" y="3829050"/>
            <a:chExt cx="10820400" cy="895350"/>
          </a:xfrm>
        </p:grpSpPr>
        <p:sp>
          <p:nvSpPr>
            <p:cNvPr id="19" name="Rectangle 19"/>
            <p:cNvSpPr/>
            <p:nvPr/>
          </p:nvSpPr>
          <p:spPr>
            <a:xfrm>
              <a:off x="685800" y="38290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0" name="Ellipse 20"/>
            <p:cNvSpPr/>
            <p:nvPr>
              <p:custDataLst>
                <p:tags r:id="rId12"/>
              </p:custDataLst>
            </p:nvPr>
          </p:nvSpPr>
          <p:spPr>
            <a:xfrm>
              <a:off x="914400" y="40671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21" name="TextBox 21"/>
            <p:cNvSpPr txBox="1"/>
            <p:nvPr>
              <p:custDataLst>
                <p:tags r:id="rId13"/>
              </p:custDataLst>
            </p:nvPr>
          </p:nvSpPr>
          <p:spPr>
            <a:xfrm>
              <a:off x="1040130" y="4191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4"/>
              </p:custDataLst>
            </p:nvPr>
          </p:nvSpPr>
          <p:spPr>
            <a:xfrm>
              <a:off x="1569720" y="40052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项目进展与实验成果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5"/>
              </p:custDataLst>
            </p:nvPr>
          </p:nvSpPr>
          <p:spPr>
            <a:xfrm>
              <a:off x="1572768" y="43748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呈现当前完成情况、正确性验证和性能结果。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>
            <p:custDataLst>
              <p:tags r:id="rId16"/>
            </p:custDataLst>
          </p:nvPr>
        </p:nvGrpSpPr>
        <p:grpSpPr>
          <a:xfrm>
            <a:off x="685800" y="4933950"/>
            <a:ext cx="10820400" cy="895350"/>
            <a:chOff x="685800" y="4933950"/>
            <a:chExt cx="10820400" cy="895350"/>
          </a:xfrm>
        </p:grpSpPr>
        <p:sp>
          <p:nvSpPr>
            <p:cNvPr id="25" name="Rectangle 25"/>
            <p:cNvSpPr/>
            <p:nvPr/>
          </p:nvSpPr>
          <p:spPr>
            <a:xfrm>
              <a:off x="685800" y="49339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6" name="Ellipse 26"/>
            <p:cNvSpPr/>
            <p:nvPr>
              <p:custDataLst>
                <p:tags r:id="rId17"/>
              </p:custDataLst>
            </p:nvPr>
          </p:nvSpPr>
          <p:spPr>
            <a:xfrm>
              <a:off x="914400" y="51720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27" name="TextBox 27"/>
            <p:cNvSpPr txBox="1"/>
            <p:nvPr>
              <p:custDataLst>
                <p:tags r:id="rId18"/>
              </p:custDataLst>
            </p:nvPr>
          </p:nvSpPr>
          <p:spPr>
            <a:xfrm>
              <a:off x="1040130" y="5295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19"/>
              </p:custDataLst>
            </p:nvPr>
          </p:nvSpPr>
          <p:spPr>
            <a:xfrm>
              <a:off x="1569720" y="5110162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成员分工与总结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>
              <p:custDataLst>
                <p:tags r:id="rId20"/>
              </p:custDataLst>
            </p:nvPr>
          </p:nvSpPr>
          <p:spPr>
            <a:xfrm>
              <a:off x="1572768" y="54797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收束本阶段汇报内容，并说明团队职责分工。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</p:sld>
</file>

<file path=ppt/slides/slide2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项目背景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022271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随着上下文长度增长，KV Cache 正在成为 LLM 推理中最突出的显存占用来源。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619250"/>
            <a:ext cx="4857750" cy="4267200"/>
          </a:xfrm>
          <a:prstGeom prst="roundRect">
            <a:avLst>
              <a:gd name="adj" fmla="val 4464"/>
            </a:avLst>
          </a:prstGeom>
          <a:solidFill>
            <a:srgbClr val="F4F8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64870" y="1852612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问题来源</a:t>
            </a:r>
            <a:endParaRPr lang="zh-CN" sz="225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67410" y="2415540"/>
            <a:ext cx="4495165" cy="242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850"/>
              </a:lnSpc>
            </a:pP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LLM 推理需要保存历史 token 的 Key-Value 缓存，以减少重复 Attention 计算。</a:t>
            </a: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endParaRPr 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lnSpc>
                <a:spcPts val="2850"/>
              </a:lnSpc>
              <a:spcBef>
                <a:spcPts val="1050"/>
              </a:spcBef>
            </a:pP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当上下文从 2K、8K 增长到 16K、32K 甚至更高时，KV Cache 会近似线性膨胀。</a:t>
            </a: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endParaRPr 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lnSpc>
                <a:spcPts val="2850"/>
              </a:lnSpc>
              <a:spcBef>
                <a:spcPts val="1050"/>
              </a:spcBef>
            </a:pP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在资源受限设备上，KV Cache 会逐渐挤占模型权重、激活与运行时调度所需要的显存预算。</a:t>
            </a: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endParaRPr 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5981700" y="1619250"/>
            <a:ext cx="5600700" cy="4678489"/>
            <a:chOff x="5981700" y="1619250"/>
            <a:chExt cx="5600700" cy="4678489"/>
          </a:xfrm>
        </p:grpSpPr>
        <p:sp>
          <p:nvSpPr>
            <p:cNvPr id="9" name="Rectangle 9"/>
            <p:cNvSpPr/>
            <p:nvPr/>
          </p:nvSpPr>
          <p:spPr>
            <a:xfrm>
              <a:off x="5981700" y="1619250"/>
              <a:ext cx="5600700" cy="4267200"/>
            </a:xfrm>
            <a:prstGeom prst="roundRect">
              <a:avLst>
                <a:gd name="adj" fmla="val 4464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4120" y="185261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显存压力的直观变化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6724650" y="527685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19050">
              <a:solidFill>
                <a:srgbClr val="AABEDC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724650" y="2686050"/>
              <a:ext cx="9525" cy="2590800"/>
            </a:xfrm>
            <a:custGeom>
              <a:avLst/>
              <a:gdLst/>
              <a:ahLst/>
              <a:cxnLst/>
              <a:rect l="l" t="t" r="r" b="b"/>
              <a:pathLst>
                <a:path w="9525" h="2590800">
                  <a:moveTo>
                    <a:pt x="0" y="0"/>
                  </a:moveTo>
                  <a:lnTo>
                    <a:pt x="0" y="2590800"/>
                  </a:lnTo>
                </a:path>
              </a:pathLst>
            </a:custGeom>
            <a:noFill/>
            <a:ln w="19050">
              <a:solidFill>
                <a:srgbClr val="AABED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162800" y="4514850"/>
              <a:ext cx="533400" cy="762000"/>
            </a:xfrm>
            <a:prstGeom prst="roundRect">
              <a:avLst>
                <a:gd name="adj" fmla="val 17857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096250" y="3886200"/>
              <a:ext cx="533400" cy="1390650"/>
            </a:xfrm>
            <a:prstGeom prst="roundRect">
              <a:avLst>
                <a:gd name="adj" fmla="val 17857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029700" y="2971800"/>
              <a:ext cx="533400" cy="2305050"/>
            </a:xfrm>
            <a:prstGeom prst="roundRect">
              <a:avLst>
                <a:gd name="adj" fmla="val 17857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963150" y="2362200"/>
              <a:ext cx="533400" cy="2914650"/>
            </a:xfrm>
            <a:prstGeom prst="roundRect">
              <a:avLst>
                <a:gd name="adj" fmla="val 17857"/>
              </a:avLst>
            </a:prstGeom>
            <a:solidFill>
              <a:srgbClr val="002060">
                <a:alpha val="8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17029" y="543591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50479" y="543591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31122" y="54359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16K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11766" y="5435918"/>
              <a:ext cx="436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32K+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7742" y="25784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</a:t>
              </a:r>
              <a:endParaRPr lang="zh-CN" sz="13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98692" y="51311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低</a:t>
              </a:r>
              <a:endParaRPr lang="zh-CN" sz="13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6807" y="59750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上下文越长，缓存显存压力越大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</p:sld>
</file>

<file path=ppt/slides/slide2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赛题任务与目标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61341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关注围绕监控、迁移、分配与透明集成形成系统方案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0" name="Group 10"/>
          <p:cNvGrpSpPr/>
          <p:nvPr>
            <p:custDataLst>
              <p:tags r:id="rId1"/>
            </p:custDataLst>
          </p:nvPr>
        </p:nvGrpSpPr>
        <p:grpSpPr>
          <a:xfrm>
            <a:off x="685800" y="1619250"/>
            <a:ext cx="5143500" cy="1809750"/>
            <a:chOff x="685800" y="1619250"/>
            <a:chExt cx="5143500" cy="180975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6192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TextBox 7"/>
            <p:cNvSpPr txBox="1"/>
            <p:nvPr>
              <p:custDataLst>
                <p:tags r:id="rId3"/>
              </p:custDataLst>
            </p:nvPr>
          </p:nvSpPr>
          <p:spPr>
            <a:xfrm>
              <a:off x="982218" y="18602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任务一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979932" y="217360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监控访问模式，定义块级热度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982218" y="2717482"/>
              <a:ext cx="373627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观察访问频率、最近访问时间等信号，为 KV Cache 的冷热分层提供基础依据。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>
            <p:custDataLst>
              <p:tags r:id="rId6"/>
            </p:custDataLst>
          </p:nvPr>
        </p:nvGrpSpPr>
        <p:grpSpPr>
          <a:xfrm>
            <a:off x="6362700" y="1619250"/>
            <a:ext cx="5143500" cy="1809750"/>
            <a:chOff x="6362700" y="1619250"/>
            <a:chExt cx="5143500" cy="1809750"/>
          </a:xfrm>
        </p:grpSpPr>
        <p:sp>
          <p:nvSpPr>
            <p:cNvPr id="11" name="Rectangle 11"/>
            <p:cNvSpPr/>
            <p:nvPr>
              <p:custDataLst>
                <p:tags r:id="rId7"/>
              </p:custDataLst>
            </p:nvPr>
          </p:nvSpPr>
          <p:spPr>
            <a:xfrm>
              <a:off x="6362700" y="16192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2" name="TextBox 12"/>
            <p:cNvSpPr txBox="1"/>
            <p:nvPr>
              <p:custDataLst>
                <p:tags r:id="rId8"/>
              </p:custDataLst>
            </p:nvPr>
          </p:nvSpPr>
          <p:spPr>
            <a:xfrm>
              <a:off x="6659118" y="18602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任务二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6656832" y="217360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热留显存，温迁内存，冷迁外存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6659118" y="2717482"/>
              <a:ext cx="34848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根据访问行为在 GPU、CPU、SSD 之间组织动态迁移与命中后回填。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>
            <p:custDataLst>
              <p:tags r:id="rId11"/>
            </p:custDataLst>
          </p:nvPr>
        </p:nvGrpSpPr>
        <p:grpSpPr>
          <a:xfrm>
            <a:off x="685800" y="3714750"/>
            <a:ext cx="5143500" cy="1809750"/>
            <a:chOff x="685800" y="3714750"/>
            <a:chExt cx="5143500" cy="1809750"/>
          </a:xfrm>
        </p:grpSpPr>
        <p:sp>
          <p:nvSpPr>
            <p:cNvPr id="16" name="Rectangle 16"/>
            <p:cNvSpPr/>
            <p:nvPr>
              <p:custDataLst>
                <p:tags r:id="rId12"/>
              </p:custDataLst>
            </p:nvPr>
          </p:nvSpPr>
          <p:spPr>
            <a:xfrm>
              <a:off x="685800" y="37147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982218" y="39557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任务三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979932" y="426910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设计块级存储分配与碎片控制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5"/>
              </p:custDataLst>
            </p:nvPr>
          </p:nvSpPr>
          <p:spPr>
            <a:xfrm>
              <a:off x="982218" y="4812982"/>
              <a:ext cx="380961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 block 为单位组织存储，减少动态增长带来的显存和内存碎片问题。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>
            <p:custDataLst>
              <p:tags r:id="rId16"/>
            </p:custDataLst>
          </p:nvPr>
        </p:nvGrpSpPr>
        <p:grpSpPr>
          <a:xfrm>
            <a:off x="6362700" y="3714750"/>
            <a:ext cx="5143500" cy="1809750"/>
            <a:chOff x="6362700" y="3714750"/>
            <a:chExt cx="5143500" cy="1809750"/>
          </a:xfrm>
        </p:grpSpPr>
        <p:sp>
          <p:nvSpPr>
            <p:cNvPr id="21" name="Rectangle 21"/>
            <p:cNvSpPr/>
            <p:nvPr>
              <p:custDataLst>
                <p:tags r:id="rId17"/>
              </p:custDataLst>
            </p:nvPr>
          </p:nvSpPr>
          <p:spPr>
            <a:xfrm>
              <a:off x="6362700" y="37147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6659118" y="39557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9"/>
              </p:custDataLst>
            </p:nvPr>
          </p:nvSpPr>
          <p:spPr>
            <a:xfrm>
              <a:off x="6656832" y="426910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尽量少改框架，提升吞吐并降低等待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20"/>
              </p:custDataLst>
            </p:nvPr>
          </p:nvSpPr>
          <p:spPr>
            <a:xfrm>
              <a:off x="6659118" y="4812982"/>
              <a:ext cx="3631502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在尽量透明集成的前提下，支持更长上下文，并减少 GPU 等待迁移的时间。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</p:sld>
</file>

<file path=ppt/slides/slide2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总体思路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18160" y="982345"/>
            <a:ext cx="11251565" cy="645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本项目以分层 KV Cache 为主线，在 vLLM 推理流程中实现可接入、可迁移、可复用、可验证的缓存管理能力。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990600" y="1771650"/>
            <a:ext cx="10210800" cy="1143000"/>
          </a:xfrm>
          <a:prstGeom prst="roundRect">
            <a:avLst>
              <a:gd name="adj" fmla="val 20000"/>
            </a:avLst>
          </a:prstGeom>
          <a:solidFill>
            <a:srgbClr val="00206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67765" y="1958975"/>
            <a:ext cx="9952990" cy="784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用最少侵入的接入方式，把 KV 数据组织成可管理、可迁移、可复用的分层系统</a:t>
            </a:r>
            <a:endParaRPr lang="zh-CN" sz="255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990600" y="3314700"/>
            <a:ext cx="2933700" cy="2171700"/>
            <a:chOff x="990600" y="3314700"/>
            <a:chExt cx="2933700" cy="2171700"/>
          </a:xfrm>
        </p:grpSpPr>
        <p:sp>
          <p:nvSpPr>
            <p:cNvPr id="8" name="Rectangle 8"/>
            <p:cNvSpPr/>
            <p:nvPr>
              <p:custDataLst>
                <p:tags r:id="rId2"/>
              </p:custDataLst>
            </p:nvPr>
          </p:nvSpPr>
          <p:spPr>
            <a:xfrm>
              <a:off x="990600" y="3314700"/>
              <a:ext cx="2933700" cy="2171700"/>
            </a:xfrm>
            <a:prstGeom prst="roundRect">
              <a:avLst>
                <a:gd name="adj" fmla="val 8772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9" name="TextBox 9"/>
            <p:cNvSpPr txBox="1"/>
            <p:nvPr>
              <p:custDataLst>
                <p:tags r:id="rId3"/>
              </p:custDataLst>
            </p:nvPr>
          </p:nvSpPr>
          <p:spPr>
            <a:xfrm>
              <a:off x="1283970" y="35290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接入层面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4"/>
              </p:custDataLst>
            </p:nvPr>
          </p:nvSpPr>
          <p:spPr>
            <a:xfrm>
              <a:off x="1286637" y="4061936"/>
              <a:ext cx="2591657" cy="985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 vLLM V1 KV connector为入口，尽量减少对原推理框架的侵入。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>
            <p:custDataLst>
              <p:tags r:id="rId5"/>
            </p:custDataLst>
          </p:nvPr>
        </p:nvGrpSpPr>
        <p:grpSpPr>
          <a:xfrm>
            <a:off x="4629150" y="3314700"/>
            <a:ext cx="2933700" cy="2171700"/>
            <a:chOff x="4629150" y="3314700"/>
            <a:chExt cx="2933700" cy="2171700"/>
          </a:xfrm>
        </p:grpSpPr>
        <p:sp>
          <p:nvSpPr>
            <p:cNvPr id="12" name="Rectangle 12"/>
            <p:cNvSpPr/>
            <p:nvPr>
              <p:custDataLst>
                <p:tags r:id="rId6"/>
              </p:custDataLst>
            </p:nvPr>
          </p:nvSpPr>
          <p:spPr>
            <a:xfrm>
              <a:off x="4629150" y="3314700"/>
              <a:ext cx="2933700" cy="2171700"/>
            </a:xfrm>
            <a:prstGeom prst="roundRect">
              <a:avLst>
                <a:gd name="adj" fmla="val 8772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TextBox 13"/>
            <p:cNvSpPr txBox="1"/>
            <p:nvPr>
              <p:custDataLst>
                <p:tags r:id="rId7"/>
              </p:custDataLst>
            </p:nvPr>
          </p:nvSpPr>
          <p:spPr>
            <a:xfrm>
              <a:off x="4922520" y="35290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体系层面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8"/>
              </p:custDataLst>
            </p:nvPr>
          </p:nvSpPr>
          <p:spPr>
            <a:xfrm>
              <a:off x="4925187" y="4061936"/>
              <a:ext cx="2427351" cy="985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围绕 GPU、CPU、SSD三层缓存路径组织数据的下沉、回填与复用。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>
            <p:custDataLst>
              <p:tags r:id="rId9"/>
            </p:custDataLst>
          </p:nvPr>
        </p:nvGrpSpPr>
        <p:grpSpPr>
          <a:xfrm>
            <a:off x="8267700" y="3314700"/>
            <a:ext cx="2933700" cy="2171700"/>
            <a:chOff x="8267700" y="3314700"/>
            <a:chExt cx="2933700" cy="2171700"/>
          </a:xfrm>
        </p:grpSpPr>
        <p:sp>
          <p:nvSpPr>
            <p:cNvPr id="16" name="Rectangle 16"/>
            <p:cNvSpPr/>
            <p:nvPr>
              <p:custDataLst>
                <p:tags r:id="rId10"/>
              </p:custDataLst>
            </p:nvPr>
          </p:nvSpPr>
          <p:spPr>
            <a:xfrm>
              <a:off x="8267700" y="3314700"/>
              <a:ext cx="2933700" cy="2171700"/>
            </a:xfrm>
            <a:prstGeom prst="roundRect">
              <a:avLst>
                <a:gd name="adj" fmla="val 8772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11"/>
              </p:custDataLst>
            </p:nvPr>
          </p:nvSpPr>
          <p:spPr>
            <a:xfrm>
              <a:off x="8561070" y="35290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验证层面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2"/>
              </p:custDataLst>
            </p:nvPr>
          </p:nvSpPr>
          <p:spPr>
            <a:xfrm>
              <a:off x="8554847" y="4061936"/>
              <a:ext cx="2646426" cy="985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从正确性、长上下文加速、超容量场景和混合负载表现建立证据链。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</p:sld>
</file>

<file path=ppt/slides/slide24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总体架构设计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079041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MiniFlexKV 把接入、调度、缓存、存储和传输拆成清晰分层，以保持系统边界可控。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00200" y="1714500"/>
            <a:ext cx="8991600" cy="723900"/>
            <a:chOff x="1600200" y="1714500"/>
            <a:chExt cx="8991600" cy="723900"/>
          </a:xfrm>
        </p:grpSpPr>
        <p:sp>
          <p:nvSpPr>
            <p:cNvPr id="6" name="Rectangle 6"/>
            <p:cNvSpPr/>
            <p:nvPr/>
          </p:nvSpPr>
          <p:spPr>
            <a:xfrm>
              <a:off x="1600200" y="1714500"/>
              <a:ext cx="8991600" cy="723900"/>
            </a:xfrm>
            <a:prstGeom prst="roundRect">
              <a:avLst>
                <a:gd name="adj" fmla="val 26316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048408" y="1912620"/>
              <a:ext cx="40951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vLLM V1 Connector 接入层</a:t>
              </a:r>
              <a:endParaRPr lang="zh-CN" sz="24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00200" y="2705100"/>
            <a:ext cx="4305300" cy="914400"/>
            <a:chOff x="1600200" y="2705100"/>
            <a:chExt cx="4305300" cy="914400"/>
          </a:xfrm>
        </p:grpSpPr>
        <p:sp>
          <p:nvSpPr>
            <p:cNvPr id="9" name="Rectangle 9"/>
            <p:cNvSpPr/>
            <p:nvPr/>
          </p:nvSpPr>
          <p:spPr>
            <a:xfrm>
              <a:off x="1600200" y="2705100"/>
              <a:ext cx="4305300" cy="914400"/>
            </a:xfrm>
            <a:prstGeom prst="roundRect">
              <a:avLst>
                <a:gd name="adj" fmla="val 18750"/>
              </a:avLst>
            </a:prstGeom>
            <a:solidFill>
              <a:srgbClr val="F4F8FF"/>
            </a:solidFill>
            <a:ln w="19050">
              <a:solidFill>
                <a:srgbClr val="6096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25040" y="2900362"/>
              <a:ext cx="30556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Scheduler Connector</a:t>
              </a:r>
              <a:endParaRPr lang="en-US" sz="225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33650" y="32670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匹配、任务生成、状态轮询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0" y="2705100"/>
            <a:ext cx="4305300" cy="914400"/>
            <a:chOff x="6286500" y="2705100"/>
            <a:chExt cx="4305300" cy="914400"/>
          </a:xfrm>
        </p:grpSpPr>
        <p:sp>
          <p:nvSpPr>
            <p:cNvPr id="13" name="Rectangle 13"/>
            <p:cNvSpPr/>
            <p:nvPr/>
          </p:nvSpPr>
          <p:spPr>
            <a:xfrm>
              <a:off x="6286500" y="2705100"/>
              <a:ext cx="4305300" cy="914400"/>
            </a:xfrm>
            <a:prstGeom prst="roundRect">
              <a:avLst>
                <a:gd name="adj" fmla="val 18750"/>
              </a:avLst>
            </a:prstGeom>
            <a:solidFill>
              <a:srgbClr val="F4F8FF"/>
            </a:solidFill>
            <a:ln w="19050">
              <a:solidFill>
                <a:srgbClr val="6096E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92553" y="2900362"/>
              <a:ext cx="269319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Worker Connector</a:t>
              </a:r>
              <a:endParaRPr lang="en-US" sz="225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28841" y="3267075"/>
              <a:ext cx="3420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注册 GPU KV cache，承接执行端交互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62200" y="4000500"/>
            <a:ext cx="7467600" cy="827405"/>
            <a:chOff x="2362200" y="4000500"/>
            <a:chExt cx="7467600" cy="827405"/>
          </a:xfrm>
        </p:grpSpPr>
        <p:sp>
          <p:nvSpPr>
            <p:cNvPr id="17" name="Rectangle 17"/>
            <p:cNvSpPr/>
            <p:nvPr/>
          </p:nvSpPr>
          <p:spPr>
            <a:xfrm>
              <a:off x="2362200" y="4000500"/>
              <a:ext cx="7467600" cy="800100"/>
            </a:xfrm>
            <a:prstGeom prst="roundRect">
              <a:avLst>
                <a:gd name="adj" fmla="val 21429"/>
              </a:avLst>
            </a:prstGeom>
            <a:solidFill>
              <a:srgbClr val="00B0F0">
                <a:alpha val="12000"/>
              </a:srgbClr>
            </a:solidFill>
            <a:ln w="19050">
              <a:solidFill>
                <a:srgbClr val="00B0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94838" y="4184967"/>
              <a:ext cx="46023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KVTaskEngine / KVTaskManager</a:t>
              </a:r>
              <a:endParaRPr lang="en-US" sz="225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73905" y="453453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连接逻辑缓存规划与物理传输执行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59180" y="5181600"/>
            <a:ext cx="3044190" cy="1028700"/>
            <a:chOff x="1059180" y="5181600"/>
            <a:chExt cx="3044190" cy="1028700"/>
          </a:xfrm>
        </p:grpSpPr>
        <p:sp>
          <p:nvSpPr>
            <p:cNvPr id="21" name="Rectangle 21"/>
            <p:cNvSpPr/>
            <p:nvPr/>
          </p:nvSpPr>
          <p:spPr>
            <a:xfrm>
              <a:off x="1104900" y="5181600"/>
              <a:ext cx="2952750" cy="1028700"/>
            </a:xfrm>
            <a:prstGeom prst="roundRect">
              <a:avLst>
                <a:gd name="adj" fmla="val 1666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99492" y="5393055"/>
              <a:ext cx="17635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Cache Engine</a:t>
              </a:r>
              <a:endParaRPr lang="en-US" sz="210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9180" y="57435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块级匹配、分配、淘汰与层间逻辑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619625" y="5181600"/>
            <a:ext cx="2952750" cy="1028700"/>
            <a:chOff x="4619625" y="5181600"/>
            <a:chExt cx="2952750" cy="1028700"/>
          </a:xfrm>
        </p:grpSpPr>
        <p:sp>
          <p:nvSpPr>
            <p:cNvPr id="25" name="Rectangle 25"/>
            <p:cNvSpPr/>
            <p:nvPr/>
          </p:nvSpPr>
          <p:spPr>
            <a:xfrm>
              <a:off x="4619625" y="5181600"/>
              <a:ext cx="2952750" cy="1028700"/>
            </a:xfrm>
            <a:prstGeom prst="roundRect">
              <a:avLst>
                <a:gd name="adj" fmla="val 1666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58742" y="5393055"/>
              <a:ext cx="20745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Storage Engine</a:t>
              </a:r>
              <a:endParaRPr lang="en-US" sz="210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2866" y="5743575"/>
              <a:ext cx="2906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/ CPU / SSD 三类物理句柄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986903" y="5181600"/>
            <a:ext cx="3247644" cy="1028700"/>
            <a:chOff x="7986903" y="5181600"/>
            <a:chExt cx="3247644" cy="1028700"/>
          </a:xfrm>
        </p:grpSpPr>
        <p:sp>
          <p:nvSpPr>
            <p:cNvPr id="29" name="Rectangle 29"/>
            <p:cNvSpPr/>
            <p:nvPr/>
          </p:nvSpPr>
          <p:spPr>
            <a:xfrm>
              <a:off x="8002143" y="5181600"/>
              <a:ext cx="3217545" cy="1028700"/>
            </a:xfrm>
            <a:prstGeom prst="roundRect">
              <a:avLst>
                <a:gd name="adj" fmla="val 1666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95728" y="5393055"/>
              <a:ext cx="22299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Transfer Engine</a:t>
              </a:r>
              <a:endParaRPr lang="en-US" sz="210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86903" y="5743575"/>
              <a:ext cx="3247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组织 D2H / H2D / H2DISK / DISK2H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</p:sld>
</file>

<file path=ppt/slides/slide25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关键机制设计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685800" y="1714500"/>
            <a:ext cx="5143500" cy="1885950"/>
            <a:chOff x="685800" y="1714500"/>
            <a:chExt cx="5143500" cy="1885950"/>
          </a:xfrm>
        </p:grpSpPr>
        <p:sp>
          <p:nvSpPr>
            <p:cNvPr id="6" name="Rectangle 6"/>
            <p:cNvSpPr/>
            <p:nvPr/>
          </p:nvSpPr>
          <p:spPr>
            <a:xfrm>
              <a:off x="685800" y="17145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79932" y="1906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逻辑缓存管理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2218" y="2431732"/>
              <a:ext cx="42077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以块级为基本单位，维护匹配、分配、淘汰、ready / pending 状态和层间缓存规划。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362700" y="1714500"/>
            <a:ext cx="5143500" cy="1885950"/>
            <a:chOff x="6362700" y="1714500"/>
            <a:chExt cx="5143500" cy="1885950"/>
          </a:xfrm>
        </p:grpSpPr>
        <p:sp>
          <p:nvSpPr>
            <p:cNvPr id="10" name="Rectangle 10"/>
            <p:cNvSpPr/>
            <p:nvPr/>
          </p:nvSpPr>
          <p:spPr>
            <a:xfrm>
              <a:off x="6362700" y="17145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56832" y="190690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物理存储与数据搬运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9118" y="2431732"/>
              <a:ext cx="39039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统一管理 GPU、CPU、SSD 三类存储句柄，并按依赖顺序执行跨层搬运操作。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3962400"/>
            <a:ext cx="5143500" cy="1885950"/>
            <a:chOff x="685800" y="3962400"/>
            <a:chExt cx="5143500" cy="1885950"/>
          </a:xfrm>
        </p:grpSpPr>
        <p:sp>
          <p:nvSpPr>
            <p:cNvPr id="14" name="Rectangle 14"/>
            <p:cNvSpPr/>
            <p:nvPr/>
          </p:nvSpPr>
          <p:spPr>
            <a:xfrm>
              <a:off x="685800" y="39624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9932" y="41548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任务编排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2218" y="4679632"/>
              <a:ext cx="3380041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 KVTaskEngine 把“命中规划”与“传输执行”连接为统一生命周期。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62700" y="3962400"/>
            <a:ext cx="5143500" cy="1885950"/>
            <a:chOff x="6362700" y="3962400"/>
            <a:chExt cx="5143500" cy="1885950"/>
          </a:xfrm>
        </p:grpSpPr>
        <p:sp>
          <p:nvSpPr>
            <p:cNvPr id="18" name="Rectangle 18"/>
            <p:cNvSpPr/>
            <p:nvPr/>
          </p:nvSpPr>
          <p:spPr>
            <a:xfrm>
              <a:off x="6362700" y="39624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56832" y="41548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布局自适配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9118" y="4679632"/>
              <a:ext cx="3505771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 GPU KV 布局自探测兼容不同版本vLLM 的物理缓存组织方式。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</p:sld>
</file>

<file path=ppt/slides/slide26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项目开发进度与任务推进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2177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当前项目已经从赛题分析推进到架构实现、实验验证和汇报整理阶段，路径清晰且阶段成果明确。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676400"/>
            <a:ext cx="10820400" cy="533400"/>
          </a:xfrm>
          <a:prstGeom prst="roundRect">
            <a:avLst>
              <a:gd name="adj" fmla="val 17857"/>
            </a:avLst>
          </a:prstGeom>
          <a:solidFill>
            <a:srgbClr val="00206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8606" y="1824990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阶段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896106" y="182499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主要任务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515606" y="1824990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负责人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896856" y="1824990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状态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85800" y="2209800"/>
            <a:ext cx="10820400" cy="838200"/>
            <a:chOff x="685800" y="2209800"/>
            <a:chExt cx="10820400" cy="838200"/>
          </a:xfrm>
        </p:grpSpPr>
        <p:sp>
          <p:nvSpPr>
            <p:cNvPr id="11" name="Rectangle 11"/>
            <p:cNvSpPr/>
            <p:nvPr/>
          </p:nvSpPr>
          <p:spPr>
            <a:xfrm>
              <a:off x="685800" y="2209800"/>
              <a:ext cx="10820400" cy="838200"/>
            </a:xfrm>
            <a:prstGeom prst="rect">
              <a:avLst/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25107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阶段一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42743" y="2451417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赛题分析、资料搜集、技术路线初步调研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6368" y="2526982"/>
              <a:ext cx="1604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祁馨叶 / 徐子淳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810750" y="24003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02583" y="24984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3048000"/>
            <a:ext cx="10820400" cy="838200"/>
            <a:chOff x="685800" y="3048000"/>
            <a:chExt cx="10820400" cy="838200"/>
          </a:xfrm>
        </p:grpSpPr>
        <p:sp>
          <p:nvSpPr>
            <p:cNvPr id="18" name="Rectangle 18"/>
            <p:cNvSpPr/>
            <p:nvPr/>
          </p:nvSpPr>
          <p:spPr>
            <a:xfrm>
              <a:off x="685800" y="3048000"/>
              <a:ext cx="10820400" cy="838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8606" y="330962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阶段二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42870" y="3244215"/>
              <a:ext cx="449580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方案设计、系统边界划分、模块分层与实现路径确定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6368" y="3365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井光成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810750" y="32385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02583" y="33366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" y="3886200"/>
            <a:ext cx="10820400" cy="838200"/>
            <a:chOff x="685800" y="3886200"/>
            <a:chExt cx="10820400" cy="838200"/>
          </a:xfrm>
        </p:grpSpPr>
        <p:sp>
          <p:nvSpPr>
            <p:cNvPr id="25" name="Rectangle 25"/>
            <p:cNvSpPr/>
            <p:nvPr/>
          </p:nvSpPr>
          <p:spPr>
            <a:xfrm>
              <a:off x="685800" y="3886200"/>
              <a:ext cx="10820400" cy="838200"/>
            </a:xfrm>
            <a:prstGeom prst="rect">
              <a:avLst/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38606" y="41871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阶段三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15565" y="4116705"/>
              <a:ext cx="454533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vLLM 接入、缓存管理、传输链路与布局适配实现，核心模块开发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6368" y="42033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井光成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810750" y="40767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029825" y="4174808"/>
              <a:ext cx="62865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5800" y="4724400"/>
            <a:ext cx="10820400" cy="838200"/>
            <a:chOff x="685800" y="4724400"/>
            <a:chExt cx="10820400" cy="838200"/>
          </a:xfrm>
        </p:grpSpPr>
        <p:sp>
          <p:nvSpPr>
            <p:cNvPr id="32" name="Rectangle 32"/>
            <p:cNvSpPr/>
            <p:nvPr/>
          </p:nvSpPr>
          <p:spPr>
            <a:xfrm>
              <a:off x="685800" y="4724400"/>
              <a:ext cx="10820400" cy="838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8606" y="50253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阶段四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42870" y="4927600"/>
              <a:ext cx="451802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正确性验证、性能测试、结果整理与汇报材料组织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6368" y="5041582"/>
              <a:ext cx="1604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徐子淳 / 祁馨叶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810750" y="49149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02583" y="50130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</p:sld>
</file>

<file path=ppt/slides/slide2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??????????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2177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?????????????????? KV Cache ??????????????????????????????????????????????????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676400"/>
            <a:ext cx="10820400" cy="533400"/>
          </a:xfrm>
          <a:prstGeom prst="roundRect">
            <a:avLst>
              <a:gd name="adj" fmla="val 17857"/>
            </a:avLst>
          </a:prstGeom>
          <a:solidFill>
            <a:srgbClr val="00206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8606" y="1824990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??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896106" y="182499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????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515606" y="1824990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????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896856" y="1824990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??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85800" y="2209800"/>
            <a:ext cx="10820400" cy="838200"/>
            <a:chOff x="685800" y="2209800"/>
            <a:chExt cx="10820400" cy="838200"/>
          </a:xfrm>
        </p:grpSpPr>
        <p:sp>
          <p:nvSpPr>
            <p:cNvPr id="11" name="Rectangle 11"/>
            <p:cNvSpPr/>
            <p:nvPr/>
          </p:nvSpPr>
          <p:spPr>
            <a:xfrm>
              <a:off x="685800" y="2209800"/>
              <a:ext cx="10820400" cy="838200"/>
            </a:xfrm>
            <a:prstGeom prst="rect">
              <a:avLst/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25107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????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42743" y="2451417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3.25 - 4.7????????????????? KV Cache ????????????? vLLM connector?prefix cache?????? FlexKV?LMCache?Mooncake ????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6368" y="2526982"/>
              <a:ext cx="1604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?? vLLM V1 connector + ??????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810750" y="24003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02583" y="24984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??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3048000"/>
            <a:ext cx="10820400" cy="838200"/>
            <a:chOff x="685800" y="3048000"/>
            <a:chExt cx="10820400" cy="838200"/>
          </a:xfrm>
        </p:grpSpPr>
        <p:sp>
          <p:nvSpPr>
            <p:cNvPr id="18" name="Rectangle 18"/>
            <p:cNvSpPr/>
            <p:nvPr/>
          </p:nvSpPr>
          <p:spPr>
            <a:xfrm>
              <a:off x="685800" y="3048000"/>
              <a:ext cx="10820400" cy="838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8606" y="330962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????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42870" y="3244215"/>
              <a:ext cx="449580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4.8 - 4.28??????????????? Python?C++ / CUDA ????????????? KV Cache ??????????????????? MiniFlex ????? connector ?????????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6368" y="3365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???????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810750" y="32385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02583" y="33366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??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" y="3886200"/>
            <a:ext cx="10820400" cy="838200"/>
            <a:chOff x="685800" y="3886200"/>
            <a:chExt cx="10820400" cy="838200"/>
          </a:xfrm>
        </p:grpSpPr>
        <p:sp>
          <p:nvSpPr>
            <p:cNvPr id="25" name="Rectangle 25"/>
            <p:cNvSpPr/>
            <p:nvPr/>
          </p:nvSpPr>
          <p:spPr>
            <a:xfrm>
              <a:off x="685800" y="3886200"/>
              <a:ext cx="10820400" cy="838200"/>
            </a:xfrm>
            <a:prstGeom prst="rect">
              <a:avLst/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38606" y="41871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????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15565" y="4116705"/>
              <a:ext cx="454533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4.29 - 5.31??? block ? KV Cache ??????????????????????? SSD ??????? GPU / CPU / SSD ???????????? GPU?CPU ? CPU?SSD ???????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6368" y="42033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????????????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810750" y="40767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029825" y="4174808"/>
              <a:ext cx="62865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??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5800" y="4724400"/>
            <a:ext cx="10820400" cy="838200"/>
            <a:chOff x="685800" y="4724400"/>
            <a:chExt cx="10820400" cy="838200"/>
          </a:xfrm>
        </p:grpSpPr>
        <p:sp>
          <p:nvSpPr>
            <p:cNvPr id="32" name="Rectangle 32"/>
            <p:cNvSpPr/>
            <p:nvPr/>
          </p:nvSpPr>
          <p:spPr>
            <a:xfrm>
              <a:off x="685800" y="4724400"/>
              <a:ext cx="10820400" cy="838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8606" y="50253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????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42870" y="4927600"/>
              <a:ext cx="451802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6.1 - 6.30??????????????????????? vLLM ?????????????????????????????????????? README???????????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6368" y="5041582"/>
              <a:ext cx="1604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???????????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810750" y="49149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02583" y="50130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??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</p:sld>
</file>

<file path=ppt/slides/slide2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3048000" cy="461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  <a:sym typeface="+mn-ea"/>
              </a:rPr>
              <a:t>当前完成情况总览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762000" y="1177290"/>
            <a:ext cx="2476500" cy="990600"/>
            <a:chOff x="762000" y="1695450"/>
            <a:chExt cx="2476500" cy="990600"/>
          </a:xfrm>
        </p:grpSpPr>
        <p:sp>
          <p:nvSpPr>
            <p:cNvPr id="6" name="Rectangle 6"/>
            <p:cNvSpPr/>
            <p:nvPr/>
          </p:nvSpPr>
          <p:spPr>
            <a:xfrm>
              <a:off x="762000" y="1695450"/>
              <a:ext cx="2476500" cy="990600"/>
            </a:xfrm>
            <a:prstGeom prst="roundRect">
              <a:avLst>
                <a:gd name="adj" fmla="val 13462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24178" y="202819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赛题要求</a:t>
              </a:r>
              <a:endParaRPr lang="zh-CN" sz="21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390900" y="1177290"/>
            <a:ext cx="8039100" cy="990600"/>
            <a:chOff x="3390900" y="1695450"/>
            <a:chExt cx="8039100" cy="990600"/>
          </a:xfrm>
        </p:grpSpPr>
        <p:sp>
          <p:nvSpPr>
            <p:cNvPr id="10" name="Rectangle 10"/>
            <p:cNvSpPr/>
            <p:nvPr/>
          </p:nvSpPr>
          <p:spPr>
            <a:xfrm>
              <a:off x="3390900" y="1695450"/>
              <a:ext cx="8039100" cy="990600"/>
            </a:xfrm>
            <a:prstGeom prst="roundRect">
              <a:avLst>
                <a:gd name="adj" fmla="val 13462"/>
              </a:avLst>
            </a:prstGeom>
            <a:solidFill>
              <a:srgbClr val="00B0F0">
                <a:alpha val="12000"/>
              </a:srgbClr>
            </a:solidFill>
            <a:ln w="19050">
              <a:solidFill>
                <a:srgbClr val="00B0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69609" y="204216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当前实现对应能力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>
            <p:custDataLst>
              <p:tags r:id="rId1"/>
            </p:custDataLst>
          </p:nvPr>
        </p:nvGrpSpPr>
        <p:grpSpPr>
          <a:xfrm>
            <a:off x="762000" y="2377440"/>
            <a:ext cx="10668000" cy="800100"/>
            <a:chOff x="762000" y="2895600"/>
            <a:chExt cx="10668000" cy="800100"/>
          </a:xfrm>
        </p:grpSpPr>
        <p:sp>
          <p:nvSpPr>
            <p:cNvPr id="14" name="Rectangle 14"/>
            <p:cNvSpPr/>
            <p:nvPr>
              <p:custDataLst>
                <p:tags r:id="rId2"/>
              </p:custDataLst>
            </p:nvPr>
          </p:nvSpPr>
          <p:spPr>
            <a:xfrm>
              <a:off x="762000" y="2895600"/>
              <a:ext cx="2476500" cy="800100"/>
            </a:xfrm>
            <a:prstGeom prst="roundRect">
              <a:avLst>
                <a:gd name="adj" fmla="val 14286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5" name="TextBox 15"/>
            <p:cNvSpPr txBox="1"/>
            <p:nvPr>
              <p:custDataLst>
                <p:tags r:id="rId3"/>
              </p:custDataLst>
            </p:nvPr>
          </p:nvSpPr>
          <p:spPr>
            <a:xfrm>
              <a:off x="980694" y="3161348"/>
              <a:ext cx="18967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访问模式 / 热度</a:t>
              </a:r>
              <a:endParaRPr lang="zh-CN" sz="19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>
              <p:custDataLst>
                <p:tags r:id="rId4"/>
              </p:custDataLst>
            </p:nvPr>
          </p:nvSpPr>
          <p:spPr>
            <a:xfrm>
              <a:off x="3390900" y="2895600"/>
              <a:ext cx="80391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5"/>
              </p:custDataLst>
            </p:nvPr>
          </p:nvSpPr>
          <p:spPr>
            <a:xfrm>
              <a:off x="3505200" y="3035300"/>
              <a:ext cx="781050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已具备块级匹配、缓存行为组织与层间状态管理基础，可承载热度定义与访问观测逻辑。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>
            <p:custDataLst>
              <p:tags r:id="rId6"/>
            </p:custDataLst>
          </p:nvPr>
        </p:nvGrpSpPr>
        <p:grpSpPr>
          <a:xfrm>
            <a:off x="762000" y="3368040"/>
            <a:ext cx="11173689" cy="800100"/>
            <a:chOff x="762000" y="3886200"/>
            <a:chExt cx="11173689" cy="800100"/>
          </a:xfrm>
        </p:grpSpPr>
        <p:sp>
          <p:nvSpPr>
            <p:cNvPr id="19" name="Rectangle 19"/>
            <p:cNvSpPr/>
            <p:nvPr>
              <p:custDataLst>
                <p:tags r:id="rId7"/>
              </p:custDataLst>
            </p:nvPr>
          </p:nvSpPr>
          <p:spPr>
            <a:xfrm>
              <a:off x="762000" y="3886200"/>
              <a:ext cx="2476500" cy="800100"/>
            </a:xfrm>
            <a:prstGeom prst="roundRect">
              <a:avLst>
                <a:gd name="adj" fmla="val 14286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0" name="TextBox 20"/>
            <p:cNvSpPr txBox="1"/>
            <p:nvPr>
              <p:custDataLst>
                <p:tags r:id="rId8"/>
              </p:custDataLst>
            </p:nvPr>
          </p:nvSpPr>
          <p:spPr>
            <a:xfrm>
              <a:off x="980694" y="4151948"/>
              <a:ext cx="19361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热 / 温 / 冷迁移</a:t>
              </a:r>
              <a:endParaRPr lang="zh-CN" sz="19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>
              <p:custDataLst>
                <p:tags r:id="rId9"/>
              </p:custDataLst>
            </p:nvPr>
          </p:nvSpPr>
          <p:spPr>
            <a:xfrm>
              <a:off x="3390900" y="3886200"/>
              <a:ext cx="80391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2" name="TextBox 22"/>
            <p:cNvSpPr txBox="1"/>
            <p:nvPr>
              <p:custDataLst>
                <p:tags r:id="rId10"/>
              </p:custDataLst>
            </p:nvPr>
          </p:nvSpPr>
          <p:spPr>
            <a:xfrm>
              <a:off x="3505073" y="4125277"/>
              <a:ext cx="8430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 GPU / CPU / SSD 分层缓存路径，以及低层命中后的回填与溢出承接能力。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>
            <p:custDataLst>
              <p:tags r:id="rId11"/>
            </p:custDataLst>
          </p:nvPr>
        </p:nvGrpSpPr>
        <p:grpSpPr>
          <a:xfrm>
            <a:off x="762000" y="4358640"/>
            <a:ext cx="11000600" cy="800100"/>
            <a:chOff x="762000" y="4876800"/>
            <a:chExt cx="11000600" cy="800100"/>
          </a:xfrm>
        </p:grpSpPr>
        <p:sp>
          <p:nvSpPr>
            <p:cNvPr id="24" name="Rectangle 24"/>
            <p:cNvSpPr/>
            <p:nvPr>
              <p:custDataLst>
                <p:tags r:id="rId12"/>
              </p:custDataLst>
            </p:nvPr>
          </p:nvSpPr>
          <p:spPr>
            <a:xfrm>
              <a:off x="762000" y="4876800"/>
              <a:ext cx="2476500" cy="800100"/>
            </a:xfrm>
            <a:prstGeom prst="roundRect">
              <a:avLst>
                <a:gd name="adj" fmla="val 14286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TextBox 25"/>
            <p:cNvSpPr txBox="1"/>
            <p:nvPr>
              <p:custDataLst>
                <p:tags r:id="rId13"/>
              </p:custDataLst>
            </p:nvPr>
          </p:nvSpPr>
          <p:spPr>
            <a:xfrm>
              <a:off x="980694" y="5142548"/>
              <a:ext cx="21592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分配器 / 碎片控制</a:t>
              </a:r>
              <a:endParaRPr lang="zh-CN" sz="19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6" name="Rectangle 26"/>
            <p:cNvSpPr/>
            <p:nvPr>
              <p:custDataLst>
                <p:tags r:id="rId14"/>
              </p:custDataLst>
            </p:nvPr>
          </p:nvSpPr>
          <p:spPr>
            <a:xfrm>
              <a:off x="3390900" y="4876800"/>
              <a:ext cx="80391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7" name="TextBox 27"/>
            <p:cNvSpPr txBox="1"/>
            <p:nvPr>
              <p:custDataLst>
                <p:tags r:id="rId15"/>
              </p:custDataLst>
            </p:nvPr>
          </p:nvSpPr>
          <p:spPr>
            <a:xfrm>
              <a:off x="3505073" y="5143182"/>
              <a:ext cx="8257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当前方案以 block 为基本单位组织缓存管理，更贴近页式缓存布局和块级回收逻辑。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2000" y="5368925"/>
            <a:ext cx="10668000" cy="915035"/>
          </a:xfrm>
          <a:prstGeom prst="roundRect">
            <a:avLst>
              <a:gd name="adj" fmla="val 10843"/>
            </a:avLst>
          </a:prstGeom>
          <a:solidFill>
            <a:srgbClr val="002060">
              <a:alpha val="8000"/>
            </a:srgbClr>
          </a:solidFill>
          <a:ln w="19050">
            <a:solidFill>
              <a:srgbClr val="6096E6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075690" y="5679440"/>
            <a:ext cx="10036810" cy="713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zh-CN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  <a:sym typeface="+mn-ea"/>
              </a:rPr>
              <a:t>整体框架已完成单机单卡版本MiniFlexKV 整体骨架,并进行了正确性校验与主要性能实验整理。</a:t>
            </a:r>
            <a:r>
              <a:rPr lang="zh-CN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/>
            </a:r>
            <a:r>
              <a:rPr lang="en-US" altLang="zh-CN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/>
            </a:r>
            <a:r>
              <a:rPr lang="zh-CN" altLang="en-US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/>
            </a:r>
            <a:r>
              <a:rPr lang="zh-CN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/>
            </a:r>
            <a:endParaRPr lang="zh-CN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endParaRPr lang="en-US" alt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  <p:transition p14:dur="500">
    <p:fade/>
  </p:transition>
</p:sld>
</file>

<file path=ppt/slides/slide29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成果一：功能与正确性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068506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当前实现已经证明系统能正确接入、正确搬运并在不同布局间保持 KV 数据一致。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4457700" cy="4267200"/>
          </a:xfrm>
          <a:prstGeom prst="roundRect">
            <a:avLst>
              <a:gd name="adj" fmla="val 4464"/>
            </a:avLst>
          </a:prstGeom>
          <a:solidFill>
            <a:srgbClr val="F4F8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170" y="1890712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正确性检查项</a:t>
            </a:r>
            <a:endParaRPr lang="zh-CN" sz="225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81837" y="2537936"/>
            <a:ext cx="337940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启动成功：8B + vLLM 0.23 +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48537" y="2861786"/>
            <a:ext cx="314998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MiniFlex connector 正常工作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81837" y="3357086"/>
            <a:ext cx="30015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补全正确：基础请求可得到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48537" y="3680936"/>
            <a:ext cx="25719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合理输出，推理链路可用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1837" y="4176236"/>
            <a:ext cx="32072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KV 传输正确：PUT / GET 后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8537" y="4500086"/>
            <a:ext cx="285060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`torch.equal` 逐字节相等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81837" y="4995386"/>
            <a:ext cx="254477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布局一致：GPU ↔ CPU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48537" y="5319236"/>
            <a:ext cx="164306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往返后字节一致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5600700" y="1714500"/>
            <a:ext cx="5905500" cy="1257300"/>
            <a:chOff x="5600700" y="1714500"/>
            <a:chExt cx="5905500" cy="1257300"/>
          </a:xfrm>
        </p:grpSpPr>
        <p:sp>
          <p:nvSpPr>
            <p:cNvPr id="16" name="Rectangle 16"/>
            <p:cNvSpPr/>
            <p:nvPr/>
          </p:nvSpPr>
          <p:spPr>
            <a:xfrm>
              <a:off x="5600700" y="1714500"/>
              <a:ext cx="5905500" cy="12573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4832" y="1903095"/>
              <a:ext cx="30886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证据 1：启动与补全链路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4705" y="2345690"/>
              <a:ext cx="558038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系统能够在目标环境中成功启动，并完成从 connector 到推理输出的完整链路。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00700" y="3219450"/>
            <a:ext cx="5905500" cy="1257300"/>
            <a:chOff x="5600700" y="3219450"/>
            <a:chExt cx="5905500" cy="1257300"/>
          </a:xfrm>
        </p:grpSpPr>
        <p:sp>
          <p:nvSpPr>
            <p:cNvPr id="20" name="Rectangle 20"/>
            <p:cNvSpPr/>
            <p:nvPr/>
          </p:nvSpPr>
          <p:spPr>
            <a:xfrm>
              <a:off x="5600700" y="3219450"/>
              <a:ext cx="5905500" cy="12573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94832" y="3422015"/>
              <a:ext cx="30886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证据 2：数据传输一致性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94705" y="3890010"/>
              <a:ext cx="550354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PUT 把 GPU block 写入 CPU 层，GET 读回后可达到逐字节一致，说明基础搬运链路正确。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00700" y="4724400"/>
            <a:ext cx="5905500" cy="1257300"/>
            <a:chOff x="5600700" y="4724400"/>
            <a:chExt cx="5905500" cy="1257300"/>
          </a:xfrm>
        </p:grpSpPr>
        <p:sp>
          <p:nvSpPr>
            <p:cNvPr id="24" name="Rectangle 24"/>
            <p:cNvSpPr/>
            <p:nvPr/>
          </p:nvSpPr>
          <p:spPr>
            <a:xfrm>
              <a:off x="5600700" y="4724400"/>
              <a:ext cx="5905500" cy="12573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94832" y="4926965"/>
              <a:ext cx="30886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证据 3：布局自适配成立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94705" y="5343525"/>
              <a:ext cx="551624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`LAYERBLOCK` 与 CPU `LAYERFIRST` 间往返保持一致，说明不同布局的适配逻辑成立。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</p:sld>
</file>

<file path=ppt/slides/slide30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98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8768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成果二：长上下文加速效果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1819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在长上下文场景中，MiniFlex 命中后可以显著减少全量重算开销，而且上下文越长收益越大。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8039100" cy="430530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932" y="1868805"/>
            <a:ext cx="417705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加速比（热态命中 vs 冷态重算）</a:t>
            </a:r>
            <a:endParaRPr lang="zh-CN" sz="21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Line 8"/>
          <p:cNvSpPr/>
          <p:nvPr/>
        </p:nvSpPr>
        <p:spPr>
          <a:xfrm>
            <a:off x="1333500" y="5372100"/>
            <a:ext cx="6915150" cy="9525"/>
          </a:xfrm>
          <a:custGeom>
            <a:avLst/>
            <a:gdLst/>
            <a:ahLst/>
            <a:cxnLst/>
            <a:rect l="l" t="t" r="r" b="b"/>
            <a:pathLst>
              <a:path w="6915150" h="9525">
                <a:moveTo>
                  <a:pt x="0" y="0"/>
                </a:moveTo>
                <a:lnTo>
                  <a:pt x="6915150" y="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sp>
        <p:nvSpPr>
          <p:cNvPr id="9" name="Line 9"/>
          <p:cNvSpPr/>
          <p:nvPr/>
        </p:nvSpPr>
        <p:spPr>
          <a:xfrm>
            <a:off x="1333500" y="2400300"/>
            <a:ext cx="9525" cy="2971800"/>
          </a:xfrm>
          <a:custGeom>
            <a:avLst/>
            <a:gdLst/>
            <a:ahLst/>
            <a:cxnLst/>
            <a:rect l="l" t="t" r="r" b="b"/>
            <a:pathLst>
              <a:path w="952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1676400" y="2438400"/>
            <a:ext cx="6038850" cy="2933700"/>
            <a:chOff x="1676400" y="2438400"/>
            <a:chExt cx="6038850" cy="2933700"/>
          </a:xfrm>
        </p:grpSpPr>
        <p:sp>
          <p:nvSpPr>
            <p:cNvPr id="10" name="Rectangle 10"/>
            <p:cNvSpPr/>
            <p:nvPr/>
          </p:nvSpPr>
          <p:spPr>
            <a:xfrm>
              <a:off x="1676400" y="4867275"/>
              <a:ext cx="552450" cy="504825"/>
            </a:xfrm>
            <a:prstGeom prst="roundRect">
              <a:avLst>
                <a:gd name="adj" fmla="val 15094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90800" y="4743450"/>
              <a:ext cx="552450" cy="628650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505200" y="4505325"/>
              <a:ext cx="552450" cy="866775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19600" y="4095750"/>
              <a:ext cx="552450" cy="1276350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0" y="3228975"/>
              <a:ext cx="552450" cy="2143125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48400" y="2943225"/>
              <a:ext cx="552450" cy="2428875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62800" y="2438400"/>
              <a:ext cx="552450" cy="2933700"/>
            </a:xfrm>
            <a:prstGeom prst="roundRect">
              <a:avLst>
                <a:gd name="adj" fmla="val 13793"/>
              </a:avLst>
            </a:prstGeom>
            <a:solidFill>
              <a:srgbClr val="002060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795834" y="5493068"/>
            <a:ext cx="5849959" cy="264033"/>
            <a:chOff x="1795834" y="5493068"/>
            <a:chExt cx="5849959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17958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~1k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102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~2k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246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~4k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390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~8k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03456" y="5493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~15k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17856" y="5493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~23k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2256" y="5493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~30k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95879" y="2197418"/>
            <a:ext cx="5999893" cy="2692907"/>
            <a:chOff x="1695879" y="2197418"/>
            <a:chExt cx="5999893" cy="2692907"/>
          </a:xfrm>
        </p:grpSpPr>
        <p:sp>
          <p:nvSpPr>
            <p:cNvPr id="26" name="TextBox 26"/>
            <p:cNvSpPr txBox="1"/>
            <p:nvPr/>
          </p:nvSpPr>
          <p:spPr>
            <a:xfrm>
              <a:off x="1695879" y="462629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1.63×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10279" y="45024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2.02×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24679" y="426434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2.76×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39079" y="38547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4.06×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53479" y="298799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6.81×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67879" y="270224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7.71×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82279" y="21974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9.32×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91600" y="1714500"/>
            <a:ext cx="2716517" cy="4305300"/>
            <a:chOff x="8991600" y="1714500"/>
            <a:chExt cx="2716517" cy="4305300"/>
          </a:xfrm>
        </p:grpSpPr>
        <p:sp>
          <p:nvSpPr>
            <p:cNvPr id="34" name="Rectangle 34"/>
            <p:cNvSpPr/>
            <p:nvPr/>
          </p:nvSpPr>
          <p:spPr>
            <a:xfrm>
              <a:off x="8991600" y="1714500"/>
              <a:ext cx="2514600" cy="4305300"/>
            </a:xfrm>
            <a:prstGeom prst="roundRect">
              <a:avLst>
                <a:gd name="adj" fmla="val 681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85732" y="19450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结论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25915" y="2595880"/>
              <a:ext cx="232092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加速收益随上下文长度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64853" y="291179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持续扩大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25788" y="3422332"/>
              <a:ext cx="19825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省下的重算比例从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85478" y="3746182"/>
              <a:ext cx="21491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约 39% 提升到约 89%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25788" y="4242117"/>
              <a:ext cx="2482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约 30k 上下文场景下，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64853" y="4565332"/>
              <a:ext cx="1768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TTFT 从 3806 ms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64853" y="4867592"/>
              <a:ext cx="12495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降到 408 ms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</p:sld>
</file>

<file path=ppt/slides/slide3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13970" y="-698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成果三：容量优势与 APC 对比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156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一旦工作集超出 GPU 容量，MiniFlex 的 CPU-backed 复用路径会明显比原生 APC 更稳定。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7810500" cy="430530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932" y="1868805"/>
            <a:ext cx="23096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TTFT 对比（ms）</a:t>
            </a:r>
            <a:endParaRPr lang="zh-CN" sz="21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Line 8"/>
          <p:cNvSpPr/>
          <p:nvPr/>
        </p:nvSpPr>
        <p:spPr>
          <a:xfrm>
            <a:off x="1371600" y="5372100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0" y="0"/>
                </a:moveTo>
                <a:lnTo>
                  <a:pt x="6667500" y="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sp>
        <p:nvSpPr>
          <p:cNvPr id="9" name="Line 9"/>
          <p:cNvSpPr/>
          <p:nvPr/>
        </p:nvSpPr>
        <p:spPr>
          <a:xfrm>
            <a:off x="1371600" y="2381250"/>
            <a:ext cx="9525" cy="2990850"/>
          </a:xfrm>
          <a:custGeom>
            <a:avLst/>
            <a:gdLst/>
            <a:ahLst/>
            <a:cxnLst/>
            <a:rect l="l" t="t" r="r" b="b"/>
            <a:pathLst>
              <a:path w="9525" h="2990850">
                <a:moveTo>
                  <a:pt x="0" y="0"/>
                </a:moveTo>
                <a:lnTo>
                  <a:pt x="0" y="299085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1828800" y="2867025"/>
            <a:ext cx="4895850" cy="2505075"/>
            <a:chOff x="1828800" y="2867025"/>
            <a:chExt cx="4895850" cy="2505075"/>
          </a:xfrm>
        </p:grpSpPr>
        <p:sp>
          <p:nvSpPr>
            <p:cNvPr id="10" name="Rectangle 10"/>
            <p:cNvSpPr/>
            <p:nvPr/>
          </p:nvSpPr>
          <p:spPr>
            <a:xfrm>
              <a:off x="1828800" y="5019675"/>
              <a:ext cx="438150" cy="352425"/>
            </a:xfrm>
            <a:prstGeom prst="roundRect">
              <a:avLst>
                <a:gd name="adj" fmla="val 16216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24100" y="4657725"/>
              <a:ext cx="438150" cy="714375"/>
            </a:xfrm>
            <a:prstGeom prst="roundRect">
              <a:avLst>
                <a:gd name="adj" fmla="val 13043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810000" y="2924175"/>
              <a:ext cx="438150" cy="2447925"/>
            </a:xfrm>
            <a:prstGeom prst="roundRect">
              <a:avLst>
                <a:gd name="adj" fmla="val 13043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05300" y="4686300"/>
              <a:ext cx="438150" cy="685800"/>
            </a:xfrm>
            <a:prstGeom prst="roundRect">
              <a:avLst>
                <a:gd name="adj" fmla="val 13043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91200" y="2867025"/>
              <a:ext cx="438150" cy="2505075"/>
            </a:xfrm>
            <a:prstGeom prst="roundRect">
              <a:avLst>
                <a:gd name="adj" fmla="val 13043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4695825"/>
              <a:ext cx="438150" cy="676275"/>
            </a:xfrm>
            <a:prstGeom prst="roundRect">
              <a:avLst>
                <a:gd name="adj" fmla="val 13043"/>
              </a:avLst>
            </a:prstGeom>
            <a:solidFill>
              <a:srgbClr val="002060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946996" y="2634139"/>
            <a:ext cx="4706660" cy="2402014"/>
            <a:chOff x="1946996" y="2634139"/>
            <a:chExt cx="4706660" cy="2402014"/>
          </a:xfrm>
        </p:grpSpPr>
        <p:sp>
          <p:nvSpPr>
            <p:cNvPr id="17" name="TextBox 17"/>
            <p:cNvSpPr txBox="1"/>
            <p:nvPr/>
          </p:nvSpPr>
          <p:spPr>
            <a:xfrm>
              <a:off x="1946996" y="4786789"/>
              <a:ext cx="201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95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95095" y="442483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199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80995" y="269128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684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76295" y="4453414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191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62195" y="263413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700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7495" y="446293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190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088756" y="5531168"/>
            <a:ext cx="4425916" cy="264033"/>
            <a:chOff x="2088756" y="5531168"/>
            <a:chExt cx="4425916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2088756" y="55311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~45k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69956" y="55311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~75k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01179" y="55311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~105k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8" name="Rectangle 28"/>
          <p:cNvSpPr/>
          <p:nvPr/>
        </p:nvSpPr>
        <p:spPr>
          <a:xfrm>
            <a:off x="1581150" y="5848350"/>
            <a:ext cx="152400" cy="152400"/>
          </a:xfrm>
          <a:prstGeom prst="rect">
            <a:avLst/>
          </a:prstGeom>
          <a:solidFill>
            <a:srgbClr val="6096E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821942" y="5835968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APC</a:t>
            </a:r>
            <a:endParaRPr lang="en-US" sz="1350" dirty="0">
              <a:solidFill>
                <a:srgbClr val="4454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2533650" y="5848350"/>
            <a:ext cx="152400" cy="152400"/>
          </a:xfrm>
          <a:prstGeom prst="rect">
            <a:avLst/>
          </a:prstGeom>
          <a:solidFill>
            <a:srgbClr val="00206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2774442" y="5835968"/>
            <a:ext cx="7233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MiniFlex</a:t>
            </a:r>
            <a:endParaRPr lang="en-US" sz="1350" dirty="0">
              <a:solidFill>
                <a:srgbClr val="4454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40" name="Group 40"/>
          <p:cNvGrpSpPr/>
          <p:nvPr/>
        </p:nvGrpSpPr>
        <p:grpSpPr>
          <a:xfrm>
            <a:off x="8801100" y="1714500"/>
            <a:ext cx="2705100" cy="4305300"/>
            <a:chOff x="8801100" y="1714500"/>
            <a:chExt cx="2705100" cy="4305300"/>
          </a:xfrm>
        </p:grpSpPr>
        <p:sp>
          <p:nvSpPr>
            <p:cNvPr id="32" name="Rectangle 32"/>
            <p:cNvSpPr/>
            <p:nvPr/>
          </p:nvSpPr>
          <p:spPr>
            <a:xfrm>
              <a:off x="8801100" y="1714500"/>
              <a:ext cx="2705100" cy="4305300"/>
            </a:xfrm>
            <a:prstGeom prst="roundRect">
              <a:avLst>
                <a:gd name="adj" fmla="val 63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95232" y="19450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关键信息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9540" y="2447925"/>
              <a:ext cx="237807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~45k 工作集仍装得进      GPU 时，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04603" y="2691447"/>
              <a:ext cx="14132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APC 命中更快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19540" y="3290570"/>
              <a:ext cx="2298065" cy="1015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一旦工作集超过 GPU KV 容量，APC 迅速出现 100% miss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/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19540" y="4424680"/>
              <a:ext cx="2378075" cy="1015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MiniFlex 通过 CPU 层承接溢出，仍维持约 190 ms 且0% miss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/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</p:sld>
</file>

<file path=ppt/slides/slide3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成果四：混合负载与指标体系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231630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在热点与长尾共存的真实负载里，MiniFlex 与 APC 组合能在速度与容量之间取得更平衡的效果。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10820400" cy="2609215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932" y="1868805"/>
            <a:ext cx="36444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混合负载结果（TTFT, ms）</a:t>
            </a:r>
            <a:endParaRPr lang="zh-CN" sz="21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990600" y="2362200"/>
            <a:ext cx="10210800" cy="514350"/>
          </a:xfrm>
          <a:prstGeom prst="rect">
            <a:avLst/>
          </a:prstGeom>
          <a:solidFill>
            <a:srgbClr val="00206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03045" y="2517458"/>
            <a:ext cx="4610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配置</a:t>
            </a:r>
            <a:endParaRPr lang="zh-CN" sz="16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342267" y="2517458"/>
            <a:ext cx="38326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hot</a:t>
            </a:r>
            <a:endParaRPr lang="en-US" sz="165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413163" y="2517458"/>
            <a:ext cx="39437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tail</a:t>
            </a:r>
            <a:endParaRPr lang="en-US" sz="165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534962" y="2517458"/>
            <a:ext cx="7608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overall</a:t>
            </a:r>
            <a:endParaRPr lang="en-US" sz="165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967607" y="2876550"/>
            <a:ext cx="10233793" cy="1314450"/>
            <a:chOff x="967607" y="2876550"/>
            <a:chExt cx="10233793" cy="1314450"/>
          </a:xfrm>
        </p:grpSpPr>
        <p:sp>
          <p:nvSpPr>
            <p:cNvPr id="13" name="Rectangle 13"/>
            <p:cNvSpPr/>
            <p:nvPr/>
          </p:nvSpPr>
          <p:spPr>
            <a:xfrm>
              <a:off x="990600" y="2876550"/>
              <a:ext cx="10210800" cy="438150"/>
            </a:xfrm>
            <a:prstGeom prst="rect">
              <a:avLst/>
            </a:prstGeom>
            <a:solidFill>
              <a:srgbClr val="F4F8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31544" y="2984182"/>
              <a:ext cx="4040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APC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03350" y="298418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60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8717" y="29841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707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23767" y="29841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515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90600" y="3314700"/>
              <a:ext cx="102108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91530" y="3422332"/>
              <a:ext cx="8840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MiniFlex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42267" y="342233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103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8717" y="342233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177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23767" y="342233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153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90600" y="3752850"/>
              <a:ext cx="10210800" cy="438150"/>
            </a:xfrm>
            <a:prstGeom prst="rect">
              <a:avLst/>
            </a:prstGeom>
            <a:solidFill>
              <a:srgbClr val="EAF3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67607" y="3860482"/>
              <a:ext cx="1531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APC + MiniFlex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03350" y="386048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67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18717" y="38604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188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23767" y="38604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165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0250" y="4519930"/>
            <a:ext cx="5200650" cy="1868805"/>
            <a:chOff x="730250" y="4519930"/>
            <a:chExt cx="5200650" cy="1676400"/>
          </a:xfrm>
        </p:grpSpPr>
        <p:sp>
          <p:nvSpPr>
            <p:cNvPr id="29" name="Rectangle 29"/>
            <p:cNvSpPr/>
            <p:nvPr/>
          </p:nvSpPr>
          <p:spPr>
            <a:xfrm>
              <a:off x="730250" y="4519930"/>
              <a:ext cx="5200650" cy="1676400"/>
            </a:xfrm>
            <a:prstGeom prst="roundRect">
              <a:avLst>
                <a:gd name="adj" fmla="val 1022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90727" y="4728845"/>
              <a:ext cx="1152144" cy="2893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结果解读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0473" y="5103812"/>
              <a:ext cx="420776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APC 更擅长热点数据留在 GPU 的极快命中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MiniFlex 更擅长长尾超容量场景的稳定复用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两者叠加后更贴近真实业务的混合负载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5860" y="4519930"/>
            <a:ext cx="5200650" cy="1864996"/>
            <a:chOff x="6245860" y="4683683"/>
            <a:chExt cx="5200650" cy="1779561"/>
          </a:xfrm>
        </p:grpSpPr>
        <p:sp>
          <p:nvSpPr>
            <p:cNvPr id="33" name="Rectangle 33"/>
            <p:cNvSpPr/>
            <p:nvPr/>
          </p:nvSpPr>
          <p:spPr>
            <a:xfrm>
              <a:off x="6245860" y="4683683"/>
              <a:ext cx="5200650" cy="1746235"/>
            </a:xfrm>
            <a:prstGeom prst="roundRect">
              <a:avLst>
                <a:gd name="adj" fmla="val 1022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10782" y="4847624"/>
              <a:ext cx="1717548" cy="3078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当前指标体系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18580" y="5169114"/>
              <a:ext cx="4590415" cy="12941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服务可用性：成功率、失败率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核心性能：TTFT、TPOT、吞吐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缓存行为：KV 使用率、prefix 命中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资源压力：GPU / CPU 占用与上下文分档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</p:sld>
</file>

<file path=ppt/slides/slide3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73544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创新点与增量贡献（1/2）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3875" y="978535"/>
            <a:ext cx="11242040" cy="14458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本项目选择性参考了部分开源项目FlexKV 的总体思路，但并非整体照搬；</a:t>
            </a:r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本页展示与版本适配、任务管理和布局解耦相关的代表性增量贡献。</a:t>
            </a:r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  <a:r>
              <a:t>在项目开发期间，我队积极与flexkv开发者沟通，并累计形成 8 项公开开发记录，其中包括 6 项已合并 PR、1 项待合并 PR 和 1 项 Issue 讨论，体现了我队对项目底层机制的持续投入。</a:t>
            </a:r>
          </a:p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r>
              <a:rPr lang="zh-CN" altLang="en-US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/>
            </a:r>
            <a:endParaRPr lang="zh-CN" altLang="en-US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631190" y="2642870"/>
            <a:ext cx="5219700" cy="1796415"/>
            <a:chOff x="685800" y="1826260"/>
            <a:chExt cx="5219700" cy="1796415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826260"/>
              <a:ext cx="5219700" cy="1796415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895350" y="205867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009964" y="2088197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1380363" y="2005806"/>
              <a:ext cx="320337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vLLM 0.23 版本布局适配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982980" y="2295525"/>
              <a:ext cx="48050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面向非 MLA 场景新增 `LAYERBLOCK` 路径，适配 GPU KV Cache 新布局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用 stride / pitch 描述布局差异，避免将旧版布局假设写死在实现中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>
            <p:custDataLst>
              <p:tags r:id="rId7"/>
            </p:custDataLst>
          </p:nvPr>
        </p:nvGrpSpPr>
        <p:grpSpPr>
          <a:xfrm>
            <a:off x="6231890" y="2642870"/>
            <a:ext cx="5219700" cy="1789430"/>
            <a:chOff x="6286500" y="1854787"/>
            <a:chExt cx="5219700" cy="1485900"/>
          </a:xfrm>
        </p:grpSpPr>
        <p:sp>
          <p:nvSpPr>
            <p:cNvPr id="12" name="Rectangle 12"/>
            <p:cNvSpPr/>
            <p:nvPr>
              <p:custDataLst>
                <p:tags r:id="rId8"/>
              </p:custDataLst>
            </p:nvPr>
          </p:nvSpPr>
          <p:spPr>
            <a:xfrm>
              <a:off x="6286500" y="1854787"/>
              <a:ext cx="5219700" cy="1485900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Ellipse 13"/>
            <p:cNvSpPr/>
            <p:nvPr>
              <p:custDataLst>
                <p:tags r:id="rId9"/>
              </p:custDataLst>
            </p:nvPr>
          </p:nvSpPr>
          <p:spPr>
            <a:xfrm>
              <a:off x="6496050" y="200596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6610664" y="2088197"/>
              <a:ext cx="113671" cy="1724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981063" y="2005806"/>
              <a:ext cx="3019234" cy="257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批处理任务生命周期重构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6583680" y="2295601"/>
              <a:ext cx="4802505" cy="578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下层与上层共同跟踪 merged task，修正“子任务视角等待”错配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降低状态丢失、任务泄漏与完成通知错位风险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>
            <p:custDataLst>
              <p:tags r:id="rId13"/>
            </p:custDataLst>
          </p:nvPr>
        </p:nvGrpSpPr>
        <p:grpSpPr>
          <a:xfrm>
            <a:off x="631190" y="4614545"/>
            <a:ext cx="5219700" cy="1698625"/>
            <a:chOff x="685800" y="3295650"/>
            <a:chExt cx="5219700" cy="1698625"/>
          </a:xfrm>
        </p:grpSpPr>
        <p:sp>
          <p:nvSpPr>
            <p:cNvPr id="18" name="Rectangle 18"/>
            <p:cNvSpPr/>
            <p:nvPr>
              <p:custDataLst>
                <p:tags r:id="rId14"/>
              </p:custDataLst>
            </p:nvPr>
          </p:nvSpPr>
          <p:spPr>
            <a:xfrm>
              <a:off x="685800" y="3295650"/>
              <a:ext cx="5219700" cy="1698625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Ellipse 19"/>
            <p:cNvSpPr/>
            <p:nvPr>
              <p:custDataLst>
                <p:tags r:id="rId15"/>
              </p:custDataLst>
            </p:nvPr>
          </p:nvSpPr>
          <p:spPr>
            <a:xfrm>
              <a:off x="895350" y="350520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1009964" y="35975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7"/>
              </p:custDataLst>
            </p:nvPr>
          </p:nvSpPr>
          <p:spPr>
            <a:xfrm>
              <a:off x="1380363" y="3515201"/>
              <a:ext cx="297294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同步 GET 完成清理机制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982980" y="3990975"/>
              <a:ext cx="4860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为 `complete=false` 任务增加标志位，区分“已被上层查询”状态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真正完成时可立即清理字典项，而非长期滞留等待超时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>
            <p:custDataLst>
              <p:tags r:id="rId19"/>
            </p:custDataLst>
          </p:nvPr>
        </p:nvGrpSpPr>
        <p:grpSpPr>
          <a:xfrm>
            <a:off x="6256020" y="4614545"/>
            <a:ext cx="5219700" cy="1703070"/>
            <a:chOff x="6256020" y="4267200"/>
            <a:chExt cx="5219700" cy="1703070"/>
          </a:xfrm>
        </p:grpSpPr>
        <p:sp>
          <p:nvSpPr>
            <p:cNvPr id="24" name="Rectangle 24"/>
            <p:cNvSpPr/>
            <p:nvPr>
              <p:custDataLst>
                <p:tags r:id="rId20"/>
              </p:custDataLst>
            </p:nvPr>
          </p:nvSpPr>
          <p:spPr>
            <a:xfrm>
              <a:off x="6256020" y="4267200"/>
              <a:ext cx="5219700" cy="1703070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Ellipse 25"/>
            <p:cNvSpPr/>
            <p:nvPr>
              <p:custDataLst>
                <p:tags r:id="rId21"/>
              </p:custDataLst>
            </p:nvPr>
          </p:nvSpPr>
          <p:spPr>
            <a:xfrm>
              <a:off x="6496050" y="447865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6" name="TextBox 26"/>
            <p:cNvSpPr txBox="1"/>
            <p:nvPr>
              <p:custDataLst>
                <p:tags r:id="rId22"/>
              </p:custDataLst>
            </p:nvPr>
          </p:nvSpPr>
          <p:spPr>
            <a:xfrm>
              <a:off x="6580184" y="45691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23"/>
              </p:custDataLst>
            </p:nvPr>
          </p:nvSpPr>
          <p:spPr>
            <a:xfrm>
              <a:off x="6950583" y="4486751"/>
              <a:ext cx="349655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CPU / SSD 异构 layout 解耦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24"/>
              </p:custDataLst>
            </p:nvPr>
          </p:nvSpPr>
          <p:spPr>
            <a:xfrm>
              <a:off x="6553200" y="4962525"/>
              <a:ext cx="4892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SSD 固定 `BLOCKFIRST`，CPU 保持上层访问友好的布局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借助 `preadv/pwritev` 连接离散内存与连续磁盘区域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73544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创新点与增量贡献（2/2）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3875" y="978694"/>
            <a:ext cx="8348662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本页展示与传输热路径、内存池行为和工程边界增强相关的补充增量贡献。</a:t>
            </a:r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685800" y="1676400"/>
            <a:ext cx="5219700" cy="2014220"/>
            <a:chOff x="685800" y="1676400"/>
            <a:chExt cx="5219700" cy="201422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676400"/>
              <a:ext cx="5219700" cy="201422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8953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009964" y="1978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1380363" y="1895951"/>
              <a:ext cx="301923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传输类封装与初始化前移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982980" y="2371725"/>
              <a:ext cx="484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将 SSD↔CPU、CPU↔GPU 传输封装为可复用 C++ 类，在 worker 初始化时完成参数准备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减少每次传输重复计算步长、指针与文件参数的调用开销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>
            <p:custDataLst>
              <p:tags r:id="rId7"/>
            </p:custDataLst>
          </p:nvPr>
        </p:nvGrpSpPr>
        <p:grpSpPr>
          <a:xfrm>
            <a:off x="6286500" y="1676400"/>
            <a:ext cx="5258435" cy="2002790"/>
            <a:chOff x="6286500" y="1676400"/>
            <a:chExt cx="5258435" cy="2002790"/>
          </a:xfrm>
        </p:grpSpPr>
        <p:sp>
          <p:nvSpPr>
            <p:cNvPr id="12" name="Rectangle 12"/>
            <p:cNvSpPr/>
            <p:nvPr>
              <p:custDataLst>
                <p:tags r:id="rId8"/>
              </p:custDataLst>
            </p:nvPr>
          </p:nvSpPr>
          <p:spPr>
            <a:xfrm>
              <a:off x="6286500" y="1676400"/>
              <a:ext cx="5219700" cy="200279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Ellipse 13"/>
            <p:cNvSpPr/>
            <p:nvPr>
              <p:custDataLst>
                <p:tags r:id="rId9"/>
              </p:custDataLst>
            </p:nvPr>
          </p:nvSpPr>
          <p:spPr>
            <a:xfrm>
              <a:off x="64960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6610664" y="1978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981063" y="1895951"/>
              <a:ext cx="281452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底层 2D 传输实现优化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6496050" y="2371725"/>
              <a:ext cx="504888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调整 GPU/CPU 底层 2D 传输函数实现方式，改为更适合当前场景的双层循环组织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属于对 FlexKV 原始热路径实现的本地化工程优化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>
            <p:custDataLst>
              <p:tags r:id="rId13"/>
            </p:custDataLst>
          </p:nvPr>
        </p:nvGrpSpPr>
        <p:grpSpPr>
          <a:xfrm>
            <a:off x="685800" y="4072255"/>
            <a:ext cx="5219700" cy="2000250"/>
            <a:chOff x="685800" y="4072255"/>
            <a:chExt cx="5219700" cy="2000250"/>
          </a:xfrm>
        </p:grpSpPr>
        <p:sp>
          <p:nvSpPr>
            <p:cNvPr id="18" name="Rectangle 18"/>
            <p:cNvSpPr/>
            <p:nvPr>
              <p:custDataLst>
                <p:tags r:id="rId14"/>
              </p:custDataLst>
            </p:nvPr>
          </p:nvSpPr>
          <p:spPr>
            <a:xfrm>
              <a:off x="685800" y="4072255"/>
              <a:ext cx="5219700" cy="200025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Ellipse 19"/>
            <p:cNvSpPr/>
            <p:nvPr>
              <p:custDataLst>
                <p:tags r:id="rId15"/>
              </p:custDataLst>
            </p:nvPr>
          </p:nvSpPr>
          <p:spPr>
            <a:xfrm>
              <a:off x="895350" y="424116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1009964" y="4323397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7"/>
              </p:custDataLst>
            </p:nvPr>
          </p:nvSpPr>
          <p:spPr>
            <a:xfrm>
              <a:off x="1380363" y="4241006"/>
              <a:ext cx="282841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mempool 回收感知增强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982980" y="4636770"/>
              <a:ext cx="484187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为释放后的块增加即时可感知标志，分配阶段可更早触发重统计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面向“大量申请、较少释放”的推理负载场景做工程性优化探索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>
            <p:custDataLst>
              <p:tags r:id="rId19"/>
            </p:custDataLst>
          </p:nvPr>
        </p:nvGrpSpPr>
        <p:grpSpPr>
          <a:xfrm>
            <a:off x="6286500" y="4021455"/>
            <a:ext cx="5219700" cy="2032000"/>
            <a:chOff x="6286500" y="4021455"/>
            <a:chExt cx="5219700" cy="2032000"/>
          </a:xfrm>
        </p:grpSpPr>
        <p:sp>
          <p:nvSpPr>
            <p:cNvPr id="24" name="Rectangle 24"/>
            <p:cNvSpPr/>
            <p:nvPr>
              <p:custDataLst>
                <p:tags r:id="rId20"/>
              </p:custDataLst>
            </p:nvPr>
          </p:nvSpPr>
          <p:spPr>
            <a:xfrm>
              <a:off x="6286500" y="4021455"/>
              <a:ext cx="5219700" cy="203200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Ellipse 25"/>
            <p:cNvSpPr/>
            <p:nvPr>
              <p:custDataLst>
                <p:tags r:id="rId21"/>
              </p:custDataLst>
            </p:nvPr>
          </p:nvSpPr>
          <p:spPr>
            <a:xfrm>
              <a:off x="6496050" y="424116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6" name="TextBox 26"/>
            <p:cNvSpPr txBox="1"/>
            <p:nvPr>
              <p:custDataLst>
                <p:tags r:id="rId22"/>
              </p:custDataLst>
            </p:nvPr>
          </p:nvSpPr>
          <p:spPr>
            <a:xfrm>
              <a:off x="6610664" y="4323397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23"/>
              </p:custDataLst>
            </p:nvPr>
          </p:nvSpPr>
          <p:spPr>
            <a:xfrm>
              <a:off x="6981063" y="4241006"/>
              <a:ext cx="1282700" cy="309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非整体照搬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24"/>
              </p:custDataLst>
            </p:nvPr>
          </p:nvSpPr>
          <p:spPr>
            <a:xfrm>
              <a:off x="6496050" y="4636770"/>
              <a:ext cx="50101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当前实现聚焦单机单卡、vLLM V1 connector 与 GPU/CPU/SSD 三层缓存管理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36168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AI 工具使用说明与披露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3875" y="978694"/>
            <a:ext cx="5596890" cy="288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本队将 AI 定位为辅助工具，而非替代成员实现的主体</a:t>
            </a:r>
            <a:endParaRPr lang="zh-CN" sz="1880" dirty="0">
              <a:solidFill>
                <a:schemeClr val="tx1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685800" y="1676400"/>
            <a:ext cx="5219700" cy="3312680"/>
            <a:chOff x="685800" y="1676400"/>
            <a:chExt cx="5219700" cy="2714239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676400"/>
              <a:ext cx="5219700" cy="158115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8953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009964" y="1949723"/>
              <a:ext cx="113671" cy="1701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1380363" y="1895951"/>
              <a:ext cx="1656207" cy="25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当前使用场景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1009650" y="2229167"/>
              <a:ext cx="47180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在写项目测试脚本时，我队使用了 AI 助手辅助，告诉ai思路后，让ai编写，人工复核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r>
                <a:rPr lang="zh-CN" altLang="en-US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r>
                <a:rPr lang="zh-CN" altLang="en-US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altLang="en-US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• 使用模型：claude</a:t>
              </a:r>
              <a:r>
                <a:rPr lang="zh-CN" altLang="en-US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  <a:r>
                <a:t/>
              </a:r>
            </a:p>
            <a:p>
              <a:pPr algn="l">
                <a:lnSpc>
                  <a:spcPts val="2250"/>
                </a:lnSpc>
              </a:pPr>
              <a:endParaRPr lang="en-US" alt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  <a:r>
                <a:t/>
              </a:r>
            </a:p>
          </p:txBody>
        </p:sp>
        <p:sp>
          <p:nvSpPr>
            <p:cNvPr id="35" name="Ellipse 7"/>
            <p:cNvSpPr/>
            <p:nvPr>
              <p:custDataLst>
                <p:tags r:id="rId7"/>
              </p:custDataLst>
            </p:nvPr>
          </p:nvSpPr>
          <p:spPr>
            <a:xfrm>
              <a:off x="5127625" y="4047739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</p:grpSp>
      <p:grpSp>
        <p:nvGrpSpPr>
          <p:cNvPr id="17" name="Group 17"/>
          <p:cNvGrpSpPr/>
          <p:nvPr>
            <p:custDataLst>
              <p:tags r:id="rId8"/>
            </p:custDataLst>
          </p:nvPr>
        </p:nvGrpSpPr>
        <p:grpSpPr>
          <a:xfrm>
            <a:off x="6341110" y="1676400"/>
            <a:ext cx="5219700" cy="1929765"/>
            <a:chOff x="6341110" y="1676400"/>
            <a:chExt cx="5219700" cy="1929765"/>
          </a:xfrm>
        </p:grpSpPr>
        <p:sp>
          <p:nvSpPr>
            <p:cNvPr id="12" name="Rectangle 12"/>
            <p:cNvSpPr/>
            <p:nvPr>
              <p:custDataLst>
                <p:tags r:id="rId9"/>
              </p:custDataLst>
            </p:nvPr>
          </p:nvSpPr>
          <p:spPr>
            <a:xfrm>
              <a:off x="6341110" y="1676400"/>
              <a:ext cx="5219700" cy="1929765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Ellipse 13"/>
            <p:cNvSpPr/>
            <p:nvPr>
              <p:custDataLst>
                <p:tags r:id="rId10"/>
              </p:custDataLst>
            </p:nvPr>
          </p:nvSpPr>
          <p:spPr>
            <a:xfrm>
              <a:off x="64960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11"/>
              </p:custDataLst>
            </p:nvPr>
          </p:nvSpPr>
          <p:spPr>
            <a:xfrm>
              <a:off x="6610664" y="1978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2"/>
              </p:custDataLst>
            </p:nvPr>
          </p:nvSpPr>
          <p:spPr>
            <a:xfrm>
              <a:off x="6981063" y="1895951"/>
              <a:ext cx="165620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人工复核原则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3"/>
              </p:custDataLst>
            </p:nvPr>
          </p:nvSpPr>
          <p:spPr>
            <a:xfrm>
              <a:off x="6583680" y="2371725"/>
              <a:ext cx="4863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AI 输出内容由本队成员结合代码实现和实验结果进行人工核对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所有技术表述、测试结论和答辩内容均以人工复核结果为准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4" name="Ellipse 7"/>
          <p:cNvSpPr/>
          <p:nvPr>
            <p:custDataLst>
              <p:tags r:id="rId14"/>
            </p:custDataLst>
          </p:nvPr>
        </p:nvSpPr>
        <p:spPr>
          <a:xfrm>
            <a:off x="5127625" y="4528667"/>
            <a:ext cx="342900" cy="418503"/>
          </a:xfrm>
          <a:prstGeom prst="ellipse">
            <a:avLst/>
          </a:prstGeom>
          <a:solidFill>
            <a:srgbClr val="EAF6FF"/>
          </a:solidFill>
          <a:ln>
            <a:noFill/>
          </a:ln>
        </p:spPr>
      </p:sp>
      <p:grpSp>
        <p:nvGrpSpPr>
          <p:cNvPr id="29" name="Group 29"/>
          <p:cNvGrpSpPr/>
          <p:nvPr>
            <p:custDataLst>
              <p:tags r:id="rId15"/>
            </p:custDataLst>
          </p:nvPr>
        </p:nvGrpSpPr>
        <p:grpSpPr>
          <a:xfrm>
            <a:off x="685800" y="4366895"/>
            <a:ext cx="10874375" cy="1581150"/>
            <a:chOff x="685800" y="4366895"/>
            <a:chExt cx="10874375" cy="1581150"/>
          </a:xfrm>
        </p:grpSpPr>
        <p:sp>
          <p:nvSpPr>
            <p:cNvPr id="24" name="Rectangle 24"/>
            <p:cNvSpPr/>
            <p:nvPr>
              <p:custDataLst>
                <p:tags r:id="rId16"/>
              </p:custDataLst>
            </p:nvPr>
          </p:nvSpPr>
          <p:spPr>
            <a:xfrm>
              <a:off x="685800" y="4366895"/>
              <a:ext cx="10874375" cy="158115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Ellipse 25"/>
            <p:cNvSpPr/>
            <p:nvPr>
              <p:custDataLst>
                <p:tags r:id="rId17"/>
              </p:custDataLst>
            </p:nvPr>
          </p:nvSpPr>
          <p:spPr>
            <a:xfrm>
              <a:off x="895350" y="461264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7" name="TextBox 27"/>
            <p:cNvSpPr txBox="1"/>
            <p:nvPr>
              <p:custDataLst>
                <p:tags r:id="rId18"/>
              </p:custDataLst>
            </p:nvPr>
          </p:nvSpPr>
          <p:spPr>
            <a:xfrm>
              <a:off x="5612638" y="4612481"/>
              <a:ext cx="1026160" cy="309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记录留存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19"/>
              </p:custDataLst>
            </p:nvPr>
          </p:nvSpPr>
          <p:spPr>
            <a:xfrm>
              <a:off x="2964180" y="5062220"/>
              <a:ext cx="6263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当前已额外整理 AI 使用文件，见 `miniflex/docs/test_overview.md`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/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>
              <p:custDataLst>
                <p:tags r:id="rId20"/>
              </p:custDataLst>
            </p:nvPr>
          </p:nvSpPr>
          <p:spPr>
            <a:xfrm>
              <a:off x="5242239" y="469487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Ellipse 7"/>
          <p:cNvSpPr/>
          <p:nvPr>
            <p:custDataLst>
              <p:tags r:id="rId21"/>
            </p:custDataLst>
          </p:nvPr>
        </p:nvSpPr>
        <p:spPr>
          <a:xfrm>
            <a:off x="5127625" y="4570577"/>
            <a:ext cx="342900" cy="418503"/>
          </a:xfrm>
          <a:prstGeom prst="ellipse">
            <a:avLst/>
          </a:prstGeom>
          <a:solidFill>
            <a:srgbClr val="EAF6FF"/>
          </a:solidFill>
          <a:ln>
            <a:noFill/>
          </a:ln>
        </p:spPr>
      </p:sp>
      <p:sp>
        <p:nvSpPr>
          <p:cNvPr id="37" name="TextBox 8"/>
          <p:cNvSpPr txBox="1"/>
          <p:nvPr>
            <p:custDataLst>
              <p:tags r:id="rId22"/>
            </p:custDataLst>
          </p:nvPr>
        </p:nvSpPr>
        <p:spPr>
          <a:xfrm>
            <a:off x="5242239" y="4694770"/>
            <a:ext cx="113671" cy="207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350" dirty="0">
              <a:solidFill>
                <a:srgbClr val="00B0F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成员分工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2" name="Group 12"/>
          <p:cNvGrpSpPr/>
          <p:nvPr>
            <p:custDataLst>
              <p:tags r:id="rId1"/>
            </p:custDataLst>
          </p:nvPr>
        </p:nvGrpSpPr>
        <p:grpSpPr>
          <a:xfrm>
            <a:off x="838200" y="1962150"/>
            <a:ext cx="3276600" cy="3314700"/>
            <a:chOff x="838200" y="1962150"/>
            <a:chExt cx="3276600" cy="331470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838200" y="1962150"/>
              <a:ext cx="3276600" cy="3314700"/>
            </a:xfrm>
            <a:prstGeom prst="roundRect">
              <a:avLst>
                <a:gd name="adj" fmla="val 581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2076450" y="2190750"/>
              <a:ext cx="800100" cy="800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2383688" y="247840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21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2010728" y="3109912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井光成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1376934" y="36347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方案设计和代码实现</a:t>
              </a:r>
              <a:endParaRPr lang="zh-CN" sz="18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7"/>
              </p:custDataLst>
            </p:nvPr>
          </p:nvSpPr>
          <p:spPr>
            <a:xfrm>
              <a:off x="1495298" y="4120832"/>
              <a:ext cx="2080831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负责系统方案设计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推进核心模块实现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打通接入与执行链路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>
            <p:custDataLst>
              <p:tags r:id="rId8"/>
            </p:custDataLst>
          </p:nvPr>
        </p:nvGrpSpPr>
        <p:grpSpPr>
          <a:xfrm>
            <a:off x="4457700" y="1962150"/>
            <a:ext cx="3276600" cy="3314700"/>
            <a:chOff x="4457700" y="1962150"/>
            <a:chExt cx="3276600" cy="3314700"/>
          </a:xfrm>
        </p:grpSpPr>
        <p:sp>
          <p:nvSpPr>
            <p:cNvPr id="13" name="Rectangle 13"/>
            <p:cNvSpPr/>
            <p:nvPr>
              <p:custDataLst>
                <p:tags r:id="rId9"/>
              </p:custDataLst>
            </p:nvPr>
          </p:nvSpPr>
          <p:spPr>
            <a:xfrm>
              <a:off x="4457700" y="1962150"/>
              <a:ext cx="3276600" cy="3314700"/>
            </a:xfrm>
            <a:prstGeom prst="roundRect">
              <a:avLst>
                <a:gd name="adj" fmla="val 581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4" name="Ellipse 14"/>
            <p:cNvSpPr/>
            <p:nvPr>
              <p:custDataLst>
                <p:tags r:id="rId10"/>
              </p:custDataLst>
            </p:nvPr>
          </p:nvSpPr>
          <p:spPr>
            <a:xfrm>
              <a:off x="5695950" y="2190750"/>
              <a:ext cx="800100" cy="800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003188" y="247840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lang="en-US" sz="21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5630227" y="3109912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祁馨叶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5117592" y="36347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文档和资料的搜集</a:t>
              </a:r>
              <a:endParaRPr lang="zh-CN" sz="18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5055108" y="4121467"/>
              <a:ext cx="2080831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负责文档整理与阅读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支撑赛题信息梳理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协同汇报材料组织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>
            <p:custDataLst>
              <p:tags r:id="rId15"/>
            </p:custDataLst>
          </p:nvPr>
        </p:nvGrpSpPr>
        <p:grpSpPr>
          <a:xfrm>
            <a:off x="8077200" y="1962150"/>
            <a:ext cx="3276600" cy="3314700"/>
            <a:chOff x="8077200" y="1962150"/>
            <a:chExt cx="3276600" cy="3314700"/>
          </a:xfrm>
        </p:grpSpPr>
        <p:sp>
          <p:nvSpPr>
            <p:cNvPr id="20" name="Rectangle 20"/>
            <p:cNvSpPr/>
            <p:nvPr>
              <p:custDataLst>
                <p:tags r:id="rId16"/>
              </p:custDataLst>
            </p:nvPr>
          </p:nvSpPr>
          <p:spPr>
            <a:xfrm>
              <a:off x="8077200" y="1962150"/>
              <a:ext cx="3276600" cy="3314700"/>
            </a:xfrm>
            <a:prstGeom prst="roundRect">
              <a:avLst>
                <a:gd name="adj" fmla="val 581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1" name="Ellipse 21"/>
            <p:cNvSpPr/>
            <p:nvPr>
              <p:custDataLst>
                <p:tags r:id="rId17"/>
              </p:custDataLst>
            </p:nvPr>
          </p:nvSpPr>
          <p:spPr>
            <a:xfrm>
              <a:off x="9315450" y="2190750"/>
              <a:ext cx="800100" cy="800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9622688" y="247840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endParaRPr lang="en-US" sz="21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9"/>
              </p:custDataLst>
            </p:nvPr>
          </p:nvSpPr>
          <p:spPr>
            <a:xfrm>
              <a:off x="9249728" y="3109912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徐子淳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20"/>
              </p:custDataLst>
            </p:nvPr>
          </p:nvSpPr>
          <p:spPr>
            <a:xfrm>
              <a:off x="8858250" y="36347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搜集资料，测试</a:t>
              </a:r>
              <a:endParaRPr lang="zh-CN" sz="18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>
              <p:custDataLst>
                <p:tags r:id="rId21"/>
              </p:custDataLst>
            </p:nvPr>
          </p:nvSpPr>
          <p:spPr>
            <a:xfrm>
              <a:off x="8726678" y="4122102"/>
              <a:ext cx="2080831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负责测试与数据整理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协助资料搜集与比对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支撑结果页证据整理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19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 p14:dur="500">
    <p:fade/>
  </p:transition>
</p:sld>
</file>

<file path=ppt/slides/slide37.xml><?xml version="1.0" encoding="utf-8"?>
<p:sld xmlns:a="http://schemas.openxmlformats.org/drawingml/2006/main" xmlns:mc="http://schemas.openxmlformats.org/markup-compatibility/2006" xmlns:ns5="http://schemas.microsoft.com/office/powerpoint/2015/09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3763" y="2110"/>
            <a:ext cx="12184475" cy="24251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3763" y="2494518"/>
            <a:ext cx="12184475" cy="7065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37819" y="3909130"/>
            <a:ext cx="5116363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595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lang="zh-CN" altLang="en-US" sz="6595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7415" y="-21882"/>
            <a:ext cx="11537173" cy="3150235"/>
          </a:xfrm>
          <a:prstGeom prst="rect">
            <a:avLst/>
          </a:prstGeom>
        </p:spPr>
        <p:txBody>
          <a:bodyPr wrap="square" lIns="91378" tIns="45689" rIns="91378" bIns="45689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dist"/>
            <a:r>
              <a:rPr lang="en-US" altLang="zh-CN" sz="19885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885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7157" y="1197713"/>
            <a:ext cx="2437684" cy="2437687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5125049" y="1452197"/>
            <a:ext cx="1941900" cy="1925401"/>
          </a:xfrm>
          <a:prstGeom prst="ellipse">
            <a:avLst/>
          </a:prstGeom>
        </p:spPr>
      </p:pic>
    </p:spTree>
  </p:cSld>
  <p:clrMapOvr>
    <a:masterClrMapping/>
  </p:clrMapOvr>
  <p:transition p14:dur="500">
    <p:fade/>
  </p:transition>
  <mc:AlternateContent>
    <mc:Choice Requires="p159">
      <p:transition spd="slow" p14:dur="2000">
        <ns5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4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5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6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7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8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9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0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1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2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3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4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5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6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7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8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9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0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1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2_tf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3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4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5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6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7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8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9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0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1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2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3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4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5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6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7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8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9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0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1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2_tf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3_tf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4_tf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5_tf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6_tf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7_tf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8_tf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9_tf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0_tf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1_tf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2_tf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3_tf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4_tf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5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6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7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8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9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0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1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2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3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4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5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6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7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8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9_tf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30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1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2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3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4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5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6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7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8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9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0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1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2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3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4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5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6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7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8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9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0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1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2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3_tf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4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5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6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7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8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9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0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1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2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3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4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5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6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7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8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9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0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1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2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3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4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5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6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7_tf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8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79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0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1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2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3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4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5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6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7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8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9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0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1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2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3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4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5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6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7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8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9_tf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200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1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2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3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4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5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6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7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8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09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0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1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2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3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4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5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6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7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8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19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ags/tag220_tf1.xml><?xml version="1.0" encoding="utf-8"?>
<p:tagLst xmlns:p="http://schemas.openxmlformats.org/presentationml/2006/main">
  <p:tag name="KSO_WM_DIAGRAM_VIRTUALLY_FRAME" val="{&quot;height&quot;:261,&quot;left&quot;:66,&quot;top&quot;:154.5,&quot;width&quot;:8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4203</Words>
  <Application>WPS 演示</Application>
  <PresentationFormat>On-screen Show (16:9)</PresentationFormat>
  <Paragraphs>556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Wingdings</vt:lpstr>
      <vt:lpstr>方正小标宋简体</vt:lpstr>
      <vt:lpstr>黑体</vt:lpstr>
      <vt:lpstr>Arial Unicode MS</vt:lpstr>
      <vt:lpstr>Calibri</vt:lpstr>
      <vt:lpstr>Office Theme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徐子淳</cp:lastModifiedBy>
  <cp:revision>3</cp:revision>
  <dcterms:created xsi:type="dcterms:W3CDTF">2026-06-27T15:37:00Z</dcterms:created>
  <dcterms:modified xsi:type="dcterms:W3CDTF">2026-06-29T01:24:56Z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E753B769995D4617AA510679748C1C49_12</vt:lpwstr>
  </property>
  <property fmtid="{D5CDD505-2E9C-101B-9397-08002B2CF9AE}" pid="3" name="KSOProductBuildVer">
    <vt:lpwstr>2052-12.1.0.23542</vt:lpwstr>
  </property>
</Properties>
</file>